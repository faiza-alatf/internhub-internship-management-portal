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embeddedFontLst>
    <p:embeddedFont>
      <p:font typeface="Figtree" panose="020B0604020202020204" charset="0"/>
      <p:regular r:id="rId6"/>
    </p:embeddedFont>
    <p:embeddedFont>
      <p:font typeface="Figtree Bold" panose="020B0604020202020204" charset="0"/>
      <p:regular r:id="rId7"/>
    </p:embeddedFont>
    <p:embeddedFont>
      <p:font typeface="Figtree SemiBold" panose="020B0604020202020204" charset="0"/>
      <p:regular r:id="rId8"/>
    </p:embeddedFont>
    <p:embeddedFont>
      <p:font typeface="Red Hat Mono Medium" panose="020B0604020202020204" charset="0"/>
      <p:regular r:id="rId9"/>
    </p:embeddedFont>
    <p:embeddedFont>
      <p:font typeface="Urbanist ExtraBold" panose="020B0604020202020204" charset="0"/>
      <p:regular r:id="rId10"/>
    </p:embeddedFont>
    <p:embeddedFont>
      <p:font typeface="Urbanist SemiBold"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56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operational problem: internship information is spread across people, spreadsheets and messages. The portal creates one connected workflow from administration through performance analytics.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architecture from left to right or top to bottom. React and Vite power the interface, REST APIs connect the client to the Node and Express layer, and SQL Server provides the system of record. JWT authentication, Tailwind CSS and Recharts support the product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journey to show the system in action: access, setup, execution, review and analytics. Close on the practical outcome: a working full-stack system that demonstrates authentication, role-based access, APIs, database integration, CRUD operations and analytics.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9F4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18331"/>
            <a:ext cx="6126406" cy="174625"/>
          </a:xfrm>
          <a:prstGeom prst="rect">
            <a:avLst/>
          </a:prstGeom>
          <a:noFill/>
          <a:ln/>
        </p:spPr>
        <p:txBody>
          <a:bodyPr wrap="none" lIns="0" tIns="0" rIns="0" bIns="0" rtlCol="0" anchor="t"/>
          <a:lstStyle/>
          <a:p>
            <a:pPr marL="0" indent="0" algn="l">
              <a:lnSpc>
                <a:spcPct val="104000"/>
              </a:lnSpc>
              <a:buNone/>
            </a:pPr>
            <a:r>
              <a:rPr lang="en-US" sz="1100" kern="100" spc="66" dirty="0">
                <a:solidFill>
                  <a:srgbClr val="1E2A44"/>
                </a:solidFill>
                <a:latin typeface="Red Hat Mono Medium" pitchFamily="34" charset="0"/>
                <a:ea typeface="Red Hat Mono Medium" pitchFamily="34" charset="-122"/>
                <a:cs typeface="Red Hat Mono Medium" pitchFamily="34" charset="-120"/>
              </a:rPr>
              <a:t>FULL-STACK INTERNSHIP OPERATIONS</a:t>
            </a:r>
            <a:endParaRPr lang="en-US" sz="1100" dirty="0"/>
          </a:p>
        </p:txBody>
      </p:sp>
      <p:sp>
        <p:nvSpPr>
          <p:cNvPr id="3" name="Text 1"/>
          <p:cNvSpPr/>
          <p:nvPr/>
        </p:nvSpPr>
        <p:spPr>
          <a:xfrm>
            <a:off x="609585" y="902557"/>
            <a:ext cx="5516821" cy="1226741"/>
          </a:xfrm>
          <a:prstGeom prst="rect">
            <a:avLst/>
          </a:prstGeom>
          <a:noFill/>
          <a:ln/>
        </p:spPr>
        <p:txBody>
          <a:bodyPr wrap="square" lIns="0" tIns="0" rIns="0" bIns="0" rtlCol="0" anchor="t">
            <a:normAutofit/>
          </a:bodyPr>
          <a:lstStyle/>
          <a:p>
            <a:pPr marL="0" indent="0" algn="l">
              <a:lnSpc>
                <a:spcPct val="88000"/>
              </a:lnSpc>
              <a:buNone/>
            </a:pPr>
            <a:r>
              <a:rPr lang="en-US" sz="4600" kern="100" spc="-92" dirty="0">
                <a:solidFill>
                  <a:srgbClr val="1E2A44"/>
                </a:solidFill>
                <a:latin typeface="Urbanist ExtraBold" pitchFamily="34" charset="0"/>
                <a:ea typeface="Urbanist ExtraBold" pitchFamily="34" charset="-122"/>
                <a:cs typeface="Urbanist ExtraBold" pitchFamily="34" charset="-120"/>
              </a:rPr>
              <a:t>Internship Management Portal</a:t>
            </a:r>
            <a:endParaRPr lang="en-US" sz="4600" dirty="0"/>
          </a:p>
        </p:txBody>
      </p:sp>
      <p:sp>
        <p:nvSpPr>
          <p:cNvPr id="4" name="Text 2"/>
          <p:cNvSpPr/>
          <p:nvPr/>
        </p:nvSpPr>
        <p:spPr>
          <a:xfrm>
            <a:off x="609585" y="2270998"/>
            <a:ext cx="5516821" cy="548481"/>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E2A44"/>
                </a:solidFill>
                <a:latin typeface="Urbanist SemiBold" pitchFamily="34" charset="0"/>
                <a:ea typeface="Urbanist SemiBold" pitchFamily="34" charset="-122"/>
                <a:cs typeface="Urbanist SemiBold" pitchFamily="34" charset="-120"/>
              </a:rPr>
              <a:t>A full-stack platform for managing the complete internship lifecycle.</a:t>
            </a:r>
            <a:endParaRPr lang="en-US" sz="1800" dirty="0"/>
          </a:p>
        </p:txBody>
      </p:sp>
      <p:sp>
        <p:nvSpPr>
          <p:cNvPr id="5" name="Shape 3"/>
          <p:cNvSpPr/>
          <p:nvPr/>
        </p:nvSpPr>
        <p:spPr>
          <a:xfrm>
            <a:off x="609585" y="2943622"/>
            <a:ext cx="2682213" cy="1040705"/>
          </a:xfrm>
          <a:prstGeom prst="roundRect">
            <a:avLst>
              <a:gd name="adj" fmla="val 20501"/>
            </a:avLst>
          </a:prstGeom>
          <a:solidFill>
            <a:srgbClr val="FFFFFF"/>
          </a:solidFill>
          <a:ln/>
        </p:spPr>
        <p:txBody>
          <a:bodyPr/>
          <a:lstStyle/>
          <a:p>
            <a:endParaRPr lang="en-PK"/>
          </a:p>
        </p:txBody>
      </p:sp>
      <p:pic>
        <p:nvPicPr>
          <p:cNvPr id="6" name="Image 0" descr="preencoded.png"/>
          <p:cNvPicPr>
            <a:picLocks noChangeAspect="1"/>
          </p:cNvPicPr>
          <p:nvPr/>
        </p:nvPicPr>
        <p:blipFill>
          <a:blip r:embed="rId3"/>
          <a:stretch>
            <a:fillRect/>
          </a:stretch>
        </p:blipFill>
        <p:spPr>
          <a:xfrm>
            <a:off x="761981" y="3096022"/>
            <a:ext cx="380990" cy="381000"/>
          </a:xfrm>
          <a:prstGeom prst="rect">
            <a:avLst/>
          </a:prstGeom>
        </p:spPr>
      </p:pic>
      <p:sp>
        <p:nvSpPr>
          <p:cNvPr id="7" name="Text 4"/>
          <p:cNvSpPr/>
          <p:nvPr/>
        </p:nvSpPr>
        <p:spPr>
          <a:xfrm>
            <a:off x="761981" y="3598624"/>
            <a:ext cx="2377420" cy="243780"/>
          </a:xfrm>
          <a:prstGeom prst="rect">
            <a:avLst/>
          </a:prstGeom>
          <a:noFill/>
          <a:ln/>
        </p:spPr>
        <p:txBody>
          <a:bodyPr wrap="none" lIns="0" tIns="0" rIns="0" bIns="0" rtlCol="0" anchor="t"/>
          <a:lstStyle/>
          <a:p>
            <a:pPr marL="0" indent="0" algn="l">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Admin / HR</a:t>
            </a:r>
            <a:endParaRPr lang="en-US" sz="1600" dirty="0"/>
          </a:p>
        </p:txBody>
      </p:sp>
      <p:sp>
        <p:nvSpPr>
          <p:cNvPr id="8" name="Shape 5"/>
          <p:cNvSpPr/>
          <p:nvPr/>
        </p:nvSpPr>
        <p:spPr>
          <a:xfrm>
            <a:off x="3444194" y="2943622"/>
            <a:ext cx="2682213" cy="1040705"/>
          </a:xfrm>
          <a:prstGeom prst="roundRect">
            <a:avLst>
              <a:gd name="adj" fmla="val 20501"/>
            </a:avLst>
          </a:prstGeom>
          <a:solidFill>
            <a:srgbClr val="FFFFFF"/>
          </a:solidFill>
          <a:ln/>
        </p:spPr>
        <p:txBody>
          <a:bodyPr/>
          <a:lstStyle/>
          <a:p>
            <a:endParaRPr lang="en-PK"/>
          </a:p>
        </p:txBody>
      </p:sp>
      <p:pic>
        <p:nvPicPr>
          <p:cNvPr id="9" name="Image 1" descr="preencoded.png"/>
          <p:cNvPicPr>
            <a:picLocks noChangeAspect="1"/>
          </p:cNvPicPr>
          <p:nvPr/>
        </p:nvPicPr>
        <p:blipFill>
          <a:blip r:embed="rId4"/>
          <a:stretch>
            <a:fillRect/>
          </a:stretch>
        </p:blipFill>
        <p:spPr>
          <a:xfrm>
            <a:off x="3596590" y="3096022"/>
            <a:ext cx="380990" cy="381000"/>
          </a:xfrm>
          <a:prstGeom prst="rect">
            <a:avLst/>
          </a:prstGeom>
        </p:spPr>
      </p:pic>
      <p:sp>
        <p:nvSpPr>
          <p:cNvPr id="10" name="Text 6"/>
          <p:cNvSpPr/>
          <p:nvPr/>
        </p:nvSpPr>
        <p:spPr>
          <a:xfrm>
            <a:off x="3596590" y="3598624"/>
            <a:ext cx="2377420" cy="243780"/>
          </a:xfrm>
          <a:prstGeom prst="rect">
            <a:avLst/>
          </a:prstGeom>
          <a:noFill/>
          <a:ln/>
        </p:spPr>
        <p:txBody>
          <a:bodyPr wrap="none" lIns="0" tIns="0" rIns="0" bIns="0" rtlCol="0" anchor="t"/>
          <a:lstStyle/>
          <a:p>
            <a:pPr marL="0" indent="0" algn="l">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Mentor</a:t>
            </a:r>
            <a:endParaRPr lang="en-US" sz="1600" dirty="0"/>
          </a:p>
        </p:txBody>
      </p:sp>
      <p:sp>
        <p:nvSpPr>
          <p:cNvPr id="11" name="Shape 7"/>
          <p:cNvSpPr/>
          <p:nvPr/>
        </p:nvSpPr>
        <p:spPr>
          <a:xfrm>
            <a:off x="609585" y="4136727"/>
            <a:ext cx="2682213" cy="1040705"/>
          </a:xfrm>
          <a:prstGeom prst="roundRect">
            <a:avLst>
              <a:gd name="adj" fmla="val 20501"/>
            </a:avLst>
          </a:prstGeom>
          <a:solidFill>
            <a:srgbClr val="FFFFFF"/>
          </a:solidFill>
          <a:ln/>
        </p:spPr>
        <p:txBody>
          <a:bodyPr/>
          <a:lstStyle/>
          <a:p>
            <a:endParaRPr lang="en-PK"/>
          </a:p>
        </p:txBody>
      </p:sp>
      <p:pic>
        <p:nvPicPr>
          <p:cNvPr id="12" name="Image 2" descr="preencoded.png"/>
          <p:cNvPicPr>
            <a:picLocks noChangeAspect="1"/>
          </p:cNvPicPr>
          <p:nvPr/>
        </p:nvPicPr>
        <p:blipFill>
          <a:blip r:embed="rId5"/>
          <a:stretch>
            <a:fillRect/>
          </a:stretch>
        </p:blipFill>
        <p:spPr>
          <a:xfrm>
            <a:off x="761981" y="4289127"/>
            <a:ext cx="380990" cy="381000"/>
          </a:xfrm>
          <a:prstGeom prst="rect">
            <a:avLst/>
          </a:prstGeom>
        </p:spPr>
      </p:pic>
      <p:sp>
        <p:nvSpPr>
          <p:cNvPr id="13" name="Text 8"/>
          <p:cNvSpPr/>
          <p:nvPr/>
        </p:nvSpPr>
        <p:spPr>
          <a:xfrm>
            <a:off x="761981" y="4791730"/>
            <a:ext cx="2377420" cy="243780"/>
          </a:xfrm>
          <a:prstGeom prst="rect">
            <a:avLst/>
          </a:prstGeom>
          <a:noFill/>
          <a:ln/>
        </p:spPr>
        <p:txBody>
          <a:bodyPr wrap="none" lIns="0" tIns="0" rIns="0" bIns="0" rtlCol="0" anchor="t"/>
          <a:lstStyle/>
          <a:p>
            <a:pPr marL="0" indent="0" algn="l">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Intern</a:t>
            </a:r>
            <a:endParaRPr lang="en-US" sz="1600" dirty="0"/>
          </a:p>
        </p:txBody>
      </p:sp>
      <p:sp>
        <p:nvSpPr>
          <p:cNvPr id="14" name="Shape 9"/>
          <p:cNvSpPr/>
          <p:nvPr/>
        </p:nvSpPr>
        <p:spPr>
          <a:xfrm>
            <a:off x="3444194" y="4136727"/>
            <a:ext cx="2682213" cy="1040705"/>
          </a:xfrm>
          <a:prstGeom prst="roundRect">
            <a:avLst>
              <a:gd name="adj" fmla="val 20501"/>
            </a:avLst>
          </a:prstGeom>
          <a:solidFill>
            <a:srgbClr val="FFFFFF"/>
          </a:solidFill>
          <a:ln/>
        </p:spPr>
        <p:txBody>
          <a:bodyPr/>
          <a:lstStyle/>
          <a:p>
            <a:endParaRPr lang="en-PK"/>
          </a:p>
        </p:txBody>
      </p:sp>
      <p:pic>
        <p:nvPicPr>
          <p:cNvPr id="15" name="Image 3" descr="preencoded.png"/>
          <p:cNvPicPr>
            <a:picLocks noChangeAspect="1"/>
          </p:cNvPicPr>
          <p:nvPr/>
        </p:nvPicPr>
        <p:blipFill>
          <a:blip r:embed="rId6"/>
          <a:stretch>
            <a:fillRect/>
          </a:stretch>
        </p:blipFill>
        <p:spPr>
          <a:xfrm>
            <a:off x="3596590" y="4289127"/>
            <a:ext cx="380990" cy="381000"/>
          </a:xfrm>
          <a:prstGeom prst="rect">
            <a:avLst/>
          </a:prstGeom>
        </p:spPr>
      </p:pic>
      <p:sp>
        <p:nvSpPr>
          <p:cNvPr id="16" name="Text 10"/>
          <p:cNvSpPr/>
          <p:nvPr/>
        </p:nvSpPr>
        <p:spPr>
          <a:xfrm>
            <a:off x="3596590" y="4791730"/>
            <a:ext cx="2377420" cy="243780"/>
          </a:xfrm>
          <a:prstGeom prst="rect">
            <a:avLst/>
          </a:prstGeom>
          <a:noFill/>
          <a:ln/>
        </p:spPr>
        <p:txBody>
          <a:bodyPr wrap="none" lIns="0" tIns="0" rIns="0" bIns="0" rtlCol="0" anchor="t"/>
          <a:lstStyle/>
          <a:p>
            <a:pPr marL="0" indent="0" algn="l">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Performance &amp; Analytics</a:t>
            </a:r>
            <a:endParaRPr lang="en-US" sz="1600" dirty="0"/>
          </a:p>
        </p:txBody>
      </p:sp>
      <p:sp>
        <p:nvSpPr>
          <p:cNvPr id="18" name="Shape 12"/>
          <p:cNvSpPr/>
          <p:nvPr/>
        </p:nvSpPr>
        <p:spPr>
          <a:xfrm>
            <a:off x="7040684" y="0"/>
            <a:ext cx="5151011" cy="6858000"/>
          </a:xfrm>
          <a:prstGeom prst="roundRect">
            <a:avLst>
              <a:gd name="adj" fmla="val 4142"/>
            </a:avLst>
          </a:prstGeom>
          <a:solidFill>
            <a:srgbClr val="FFFFFF"/>
          </a:solidFill>
          <a:ln/>
        </p:spPr>
        <p:txBody>
          <a:bodyPr/>
          <a:lstStyle/>
          <a:p>
            <a:endParaRPr lang="en-PK"/>
          </a:p>
        </p:txBody>
      </p:sp>
      <p:sp>
        <p:nvSpPr>
          <p:cNvPr id="19" name="Text 13"/>
          <p:cNvSpPr/>
          <p:nvPr/>
        </p:nvSpPr>
        <p:spPr>
          <a:xfrm>
            <a:off x="7320077" y="364331"/>
            <a:ext cx="4871618" cy="174625"/>
          </a:xfrm>
          <a:prstGeom prst="rect">
            <a:avLst/>
          </a:prstGeom>
          <a:noFill/>
          <a:ln/>
        </p:spPr>
        <p:txBody>
          <a:bodyPr wrap="none" lIns="0" tIns="0" rIns="0" bIns="0" rtlCol="0" anchor="t"/>
          <a:lstStyle/>
          <a:p>
            <a:pPr marL="0" indent="0" algn="l">
              <a:lnSpc>
                <a:spcPct val="104000"/>
              </a:lnSpc>
              <a:buNone/>
            </a:pPr>
            <a:r>
              <a:rPr lang="en-US" sz="1100" kern="100" spc="66" dirty="0">
                <a:solidFill>
                  <a:srgbClr val="1E2A44"/>
                </a:solidFill>
                <a:latin typeface="Red Hat Mono Medium" pitchFamily="34" charset="0"/>
                <a:ea typeface="Red Hat Mono Medium" pitchFamily="34" charset="-122"/>
                <a:cs typeface="Red Hat Mono Medium" pitchFamily="34" charset="-120"/>
              </a:rPr>
              <a:t>ONE WORKFLOW</a:t>
            </a:r>
            <a:endParaRPr lang="en-US" sz="1100" dirty="0"/>
          </a:p>
        </p:txBody>
      </p:sp>
      <p:sp>
        <p:nvSpPr>
          <p:cNvPr id="20" name="Text 14"/>
          <p:cNvSpPr/>
          <p:nvPr/>
        </p:nvSpPr>
        <p:spPr>
          <a:xfrm>
            <a:off x="7320077" y="606425"/>
            <a:ext cx="4592225" cy="304800"/>
          </a:xfrm>
          <a:prstGeom prst="rect">
            <a:avLst/>
          </a:prstGeom>
          <a:noFill/>
          <a:ln/>
        </p:spPr>
        <p:txBody>
          <a:bodyPr wrap="none" lIns="0" tIns="0" rIns="0" bIns="0" rtlCol="0" anchor="t"/>
          <a:lstStyle/>
          <a:p>
            <a:pPr marL="0" indent="0" algn="l">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From assignment to insight</a:t>
            </a:r>
            <a:endParaRPr lang="en-US" sz="2000" dirty="0"/>
          </a:p>
        </p:txBody>
      </p:sp>
      <p:sp>
        <p:nvSpPr>
          <p:cNvPr id="21" name="Text 15"/>
          <p:cNvSpPr/>
          <p:nvPr/>
        </p:nvSpPr>
        <p:spPr>
          <a:xfrm>
            <a:off x="7320077" y="1048703"/>
            <a:ext cx="4871618" cy="205680"/>
          </a:xfrm>
          <a:prstGeom prst="rect">
            <a:avLst/>
          </a:prstGeom>
          <a:noFill/>
          <a:ln/>
        </p:spPr>
        <p:txBody>
          <a:bodyPr wrap="none" lIns="0" tIns="0" rIns="0" bIns="0" rtlCol="0" anchor="t"/>
          <a:lstStyle/>
          <a:p>
            <a:pPr marL="0" indent="0" algn="l">
              <a:lnSpc>
                <a:spcPct val="113000"/>
              </a:lnSpc>
              <a:buNone/>
            </a:pPr>
            <a:r>
              <a:rPr lang="en-US" sz="1200" dirty="0">
                <a:solidFill>
                  <a:srgbClr val="1E2A44"/>
                </a:solidFill>
                <a:latin typeface="Figtree" pitchFamily="34" charset="0"/>
                <a:ea typeface="Figtree" pitchFamily="34" charset="-122"/>
                <a:cs typeface="Figtree" pitchFamily="34" charset="-120"/>
              </a:rPr>
              <a:t>Admin / HR → Mentor → Intern → Performance &amp; Analytics</a:t>
            </a:r>
            <a:endParaRPr lang="en-US" sz="1200" dirty="0"/>
          </a:p>
        </p:txBody>
      </p:sp>
      <p:sp>
        <p:nvSpPr>
          <p:cNvPr id="22" name="Text 16"/>
          <p:cNvSpPr/>
          <p:nvPr/>
        </p:nvSpPr>
        <p:spPr>
          <a:xfrm>
            <a:off x="7320077" y="1590933"/>
            <a:ext cx="4592225" cy="243780"/>
          </a:xfrm>
          <a:prstGeom prst="rect">
            <a:avLst/>
          </a:prstGeom>
          <a:noFill/>
          <a:ln/>
        </p:spPr>
        <p:txBody>
          <a:bodyPr wrap="none" lIns="0" tIns="0" rIns="0" bIns="0" rtlCol="0" anchor="t"/>
          <a:lstStyle/>
          <a:p>
            <a:pPr marL="0" indent="0" algn="l">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Intern Hub </a:t>
            </a:r>
            <a:r>
              <a:rPr lang="en-US" sz="1600" dirty="0">
                <a:solidFill>
                  <a:srgbClr val="4A5670"/>
                </a:solidFill>
                <a:latin typeface="Figtree SemiBold" pitchFamily="34" charset="0"/>
                <a:ea typeface="Figtree SemiBold" pitchFamily="34" charset="-122"/>
                <a:cs typeface="Figtree SemiBold" pitchFamily="34" charset="-120"/>
              </a:rPr>
              <a:t>· Live overview</a:t>
            </a:r>
            <a:endParaRPr lang="en-US" sz="1600" dirty="0"/>
          </a:p>
        </p:txBody>
      </p:sp>
      <p:sp>
        <p:nvSpPr>
          <p:cNvPr id="23" name="Shape 17"/>
          <p:cNvSpPr/>
          <p:nvPr/>
        </p:nvSpPr>
        <p:spPr>
          <a:xfrm>
            <a:off x="7320077" y="1960761"/>
            <a:ext cx="1429111" cy="839986"/>
          </a:xfrm>
          <a:prstGeom prst="rect">
            <a:avLst/>
          </a:prstGeom>
          <a:solidFill>
            <a:srgbClr val="C6DBF1"/>
          </a:solidFill>
          <a:ln/>
        </p:spPr>
        <p:txBody>
          <a:bodyPr/>
          <a:lstStyle/>
          <a:p>
            <a:endParaRPr lang="en-PK"/>
          </a:p>
        </p:txBody>
      </p:sp>
      <p:sp>
        <p:nvSpPr>
          <p:cNvPr id="24" name="Text 18"/>
          <p:cNvSpPr/>
          <p:nvPr/>
        </p:nvSpPr>
        <p:spPr>
          <a:xfrm>
            <a:off x="7421674" y="2063313"/>
            <a:ext cx="1327514"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Figtree Bold" pitchFamily="34" charset="0"/>
                <a:ea typeface="Figtree Bold" pitchFamily="34" charset="-122"/>
                <a:cs typeface="Figtree Bold" pitchFamily="34" charset="-120"/>
              </a:rPr>
              <a:t>24</a:t>
            </a:r>
            <a:endParaRPr lang="en-US" sz="1800" dirty="0"/>
          </a:p>
        </p:txBody>
      </p:sp>
      <p:sp>
        <p:nvSpPr>
          <p:cNvPr id="25" name="Text 19"/>
          <p:cNvSpPr/>
          <p:nvPr/>
        </p:nvSpPr>
        <p:spPr>
          <a:xfrm>
            <a:off x="7421674" y="2494419"/>
            <a:ext cx="1327514" cy="205680"/>
          </a:xfrm>
          <a:prstGeom prst="rect">
            <a:avLst/>
          </a:prstGeom>
          <a:noFill/>
          <a:ln/>
        </p:spPr>
        <p:txBody>
          <a:bodyPr wrap="none" lIns="0" tIns="0" rIns="0" bIns="0" rtlCol="0" anchor="t"/>
          <a:lstStyle/>
          <a:p>
            <a:pPr marL="0" indent="0" algn="l">
              <a:lnSpc>
                <a:spcPct val="113000"/>
              </a:lnSpc>
              <a:buNone/>
            </a:pPr>
            <a:r>
              <a:rPr lang="en-US" sz="1200" dirty="0">
                <a:solidFill>
                  <a:srgbClr val="000000"/>
                </a:solidFill>
                <a:latin typeface="Figtree" pitchFamily="34" charset="0"/>
                <a:ea typeface="Figtree" pitchFamily="34" charset="-122"/>
                <a:cs typeface="Figtree" pitchFamily="34" charset="-120"/>
              </a:rPr>
              <a:t>Active interns</a:t>
            </a:r>
            <a:endParaRPr lang="en-US" sz="1200" dirty="0"/>
          </a:p>
        </p:txBody>
      </p:sp>
      <p:sp>
        <p:nvSpPr>
          <p:cNvPr id="26" name="Shape 20"/>
          <p:cNvSpPr/>
          <p:nvPr/>
        </p:nvSpPr>
        <p:spPr>
          <a:xfrm>
            <a:off x="8901584" y="1960761"/>
            <a:ext cx="1429111" cy="839986"/>
          </a:xfrm>
          <a:prstGeom prst="rect">
            <a:avLst/>
          </a:prstGeom>
          <a:solidFill>
            <a:srgbClr val="C6DBF1"/>
          </a:solidFill>
          <a:ln/>
        </p:spPr>
        <p:txBody>
          <a:bodyPr/>
          <a:lstStyle/>
          <a:p>
            <a:endParaRPr lang="en-PK"/>
          </a:p>
        </p:txBody>
      </p:sp>
      <p:sp>
        <p:nvSpPr>
          <p:cNvPr id="27" name="Text 21"/>
          <p:cNvSpPr/>
          <p:nvPr/>
        </p:nvSpPr>
        <p:spPr>
          <a:xfrm>
            <a:off x="9003182" y="2063313"/>
            <a:ext cx="1327514"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Figtree Bold" pitchFamily="34" charset="0"/>
                <a:ea typeface="Figtree Bold" pitchFamily="34" charset="-122"/>
                <a:cs typeface="Figtree Bold" pitchFamily="34" charset="-120"/>
              </a:rPr>
              <a:t>68%</a:t>
            </a:r>
            <a:endParaRPr lang="en-US" sz="1800" dirty="0"/>
          </a:p>
        </p:txBody>
      </p:sp>
      <p:sp>
        <p:nvSpPr>
          <p:cNvPr id="28" name="Text 22"/>
          <p:cNvSpPr/>
          <p:nvPr/>
        </p:nvSpPr>
        <p:spPr>
          <a:xfrm>
            <a:off x="9003182" y="2494419"/>
            <a:ext cx="1327514" cy="205680"/>
          </a:xfrm>
          <a:prstGeom prst="rect">
            <a:avLst/>
          </a:prstGeom>
          <a:noFill/>
          <a:ln/>
        </p:spPr>
        <p:txBody>
          <a:bodyPr wrap="none" lIns="0" tIns="0" rIns="0" bIns="0" rtlCol="0" anchor="t"/>
          <a:lstStyle/>
          <a:p>
            <a:pPr marL="0" indent="0" algn="l">
              <a:lnSpc>
                <a:spcPct val="113000"/>
              </a:lnSpc>
              <a:buNone/>
            </a:pPr>
            <a:r>
              <a:rPr lang="en-US" sz="1200" dirty="0">
                <a:solidFill>
                  <a:srgbClr val="000000"/>
                </a:solidFill>
                <a:latin typeface="Figtree" pitchFamily="34" charset="0"/>
                <a:ea typeface="Figtree" pitchFamily="34" charset="-122"/>
                <a:cs typeface="Figtree" pitchFamily="34" charset="-120"/>
              </a:rPr>
              <a:t>Tasks complete</a:t>
            </a:r>
            <a:endParaRPr lang="en-US" sz="1200" dirty="0"/>
          </a:p>
        </p:txBody>
      </p:sp>
      <p:sp>
        <p:nvSpPr>
          <p:cNvPr id="29" name="Shape 23"/>
          <p:cNvSpPr/>
          <p:nvPr/>
        </p:nvSpPr>
        <p:spPr>
          <a:xfrm>
            <a:off x="10483092" y="1960761"/>
            <a:ext cx="1429210" cy="839986"/>
          </a:xfrm>
          <a:prstGeom prst="rect">
            <a:avLst/>
          </a:prstGeom>
          <a:solidFill>
            <a:srgbClr val="C6DBF1"/>
          </a:solidFill>
          <a:ln/>
        </p:spPr>
        <p:txBody>
          <a:bodyPr/>
          <a:lstStyle/>
          <a:p>
            <a:endParaRPr lang="en-PK"/>
          </a:p>
        </p:txBody>
      </p:sp>
      <p:sp>
        <p:nvSpPr>
          <p:cNvPr id="30" name="Text 24"/>
          <p:cNvSpPr/>
          <p:nvPr/>
        </p:nvSpPr>
        <p:spPr>
          <a:xfrm>
            <a:off x="10584689" y="2063313"/>
            <a:ext cx="1327613" cy="319980"/>
          </a:xfrm>
          <a:prstGeom prst="rect">
            <a:avLst/>
          </a:prstGeom>
          <a:noFill/>
          <a:ln/>
        </p:spPr>
        <p:txBody>
          <a:bodyPr wrap="none" lIns="0" tIns="0" rIns="0" bIns="0" rtlCol="0" anchor="t"/>
          <a:lstStyle/>
          <a:p>
            <a:pPr marL="0" indent="0" algn="l">
              <a:lnSpc>
                <a:spcPct val="117000"/>
              </a:lnSpc>
              <a:buNone/>
            </a:pPr>
            <a:r>
              <a:rPr lang="en-US" sz="1800" b="1" dirty="0">
                <a:solidFill>
                  <a:srgbClr val="000000"/>
                </a:solidFill>
                <a:latin typeface="Figtree Bold" pitchFamily="34" charset="0"/>
                <a:ea typeface="Figtree Bold" pitchFamily="34" charset="-122"/>
                <a:cs typeface="Figtree Bold" pitchFamily="34" charset="-120"/>
              </a:rPr>
              <a:t>12</a:t>
            </a:r>
            <a:endParaRPr lang="en-US" sz="1800" dirty="0"/>
          </a:p>
        </p:txBody>
      </p:sp>
      <p:sp>
        <p:nvSpPr>
          <p:cNvPr id="31" name="Text 25"/>
          <p:cNvSpPr/>
          <p:nvPr/>
        </p:nvSpPr>
        <p:spPr>
          <a:xfrm>
            <a:off x="10584689" y="2494419"/>
            <a:ext cx="1327613" cy="205680"/>
          </a:xfrm>
          <a:prstGeom prst="rect">
            <a:avLst/>
          </a:prstGeom>
          <a:noFill/>
          <a:ln/>
        </p:spPr>
        <p:txBody>
          <a:bodyPr wrap="none" lIns="0" tIns="0" rIns="0" bIns="0" rtlCol="0" anchor="t"/>
          <a:lstStyle/>
          <a:p>
            <a:pPr marL="0" indent="0" algn="l">
              <a:lnSpc>
                <a:spcPct val="113000"/>
              </a:lnSpc>
              <a:buNone/>
            </a:pPr>
            <a:r>
              <a:rPr lang="en-US" sz="1200" dirty="0">
                <a:solidFill>
                  <a:srgbClr val="000000"/>
                </a:solidFill>
                <a:latin typeface="Figtree" pitchFamily="34" charset="0"/>
                <a:ea typeface="Figtree" pitchFamily="34" charset="-122"/>
                <a:cs typeface="Figtree" pitchFamily="34" charset="-120"/>
              </a:rPr>
              <a:t>Pending reviews</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320077" y="2972197"/>
          <a:ext cx="4592225" cy="1269968"/>
        </p:xfrm>
        <a:graphic>
          <a:graphicData uri="http://schemas.openxmlformats.org/drawingml/2006/table">
            <a:tbl>
              <a:tblPr/>
              <a:tblGrid>
                <a:gridCol w="2296063">
                  <a:extLst>
                    <a:ext uri="{9D8B030D-6E8A-4147-A177-3AD203B41FA5}">
                      <a16:colId xmlns:a16="http://schemas.microsoft.com/office/drawing/2014/main" val="20000"/>
                    </a:ext>
                  </a:extLst>
                </a:gridCol>
                <a:gridCol w="2296162">
                  <a:extLst>
                    <a:ext uri="{9D8B030D-6E8A-4147-A177-3AD203B41FA5}">
                      <a16:colId xmlns:a16="http://schemas.microsoft.com/office/drawing/2014/main" val="20001"/>
                    </a:ext>
                  </a:extLst>
                </a:gridCol>
              </a:tblGrid>
              <a:tr h="425439">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Aisha Khan</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72%</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425439">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Daniel Okoro</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48%</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9090">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Maya Chen</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500" dirty="0">
                          <a:solidFill>
                            <a:srgbClr val="1E2A44"/>
                          </a:solidFill>
                          <a:latin typeface="Figtree" pitchFamily="34" charset="0"/>
                          <a:ea typeface="Figtree" pitchFamily="34" charset="-122"/>
                          <a:cs typeface="Figtree" pitchFamily="34" charset="-120"/>
                        </a:rPr>
                        <a:t>86%</a:t>
                      </a:r>
                      <a:endParaRPr lang="en-US" sz="1500" dirty="0">
                        <a:latin typeface="Figtree" charset="0"/>
                        <a:ea typeface="Figtree" charset="0"/>
                        <a:cs typeface="Figtree" charset="0"/>
                      </a:endParaRPr>
                    </a:p>
                  </a:txBody>
                  <a:tcPr marL="142871" marR="142871" marT="76198" marB="76198"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bl>
          </a:graphicData>
        </a:graphic>
      </p:graphicFrame>
      <p:sp>
        <p:nvSpPr>
          <p:cNvPr id="33" name="Shape 26"/>
          <p:cNvSpPr/>
          <p:nvPr/>
        </p:nvSpPr>
        <p:spPr>
          <a:xfrm>
            <a:off x="7320077" y="3391286"/>
            <a:ext cx="4592225" cy="6350"/>
          </a:xfrm>
          <a:prstGeom prst="rect">
            <a:avLst/>
          </a:prstGeom>
          <a:solidFill>
            <a:srgbClr val="C6DBF1"/>
          </a:solidFill>
          <a:ln/>
        </p:spPr>
        <p:txBody>
          <a:bodyPr/>
          <a:lstStyle/>
          <a:p>
            <a:endParaRPr lang="en-PK"/>
          </a:p>
        </p:txBody>
      </p:sp>
      <p:sp>
        <p:nvSpPr>
          <p:cNvPr id="34" name="Shape 27"/>
          <p:cNvSpPr/>
          <p:nvPr/>
        </p:nvSpPr>
        <p:spPr>
          <a:xfrm>
            <a:off x="7320077" y="3816726"/>
            <a:ext cx="4592225" cy="6350"/>
          </a:xfrm>
          <a:prstGeom prst="rect">
            <a:avLst/>
          </a:prstGeom>
          <a:solidFill>
            <a:srgbClr val="C6DBF1"/>
          </a:solidFill>
          <a:ln/>
        </p:spPr>
        <p:txBody>
          <a:bodyPr/>
          <a:lstStyle/>
          <a:p>
            <a:endParaRPr lang="en-PK"/>
          </a:p>
        </p:txBody>
      </p:sp>
      <p:sp>
        <p:nvSpPr>
          <p:cNvPr id="35" name="Text 28"/>
          <p:cNvSpPr/>
          <p:nvPr/>
        </p:nvSpPr>
        <p:spPr>
          <a:xfrm>
            <a:off x="7320077" y="4413647"/>
            <a:ext cx="4592225" cy="788491"/>
          </a:xfrm>
          <a:prstGeom prst="rect">
            <a:avLst/>
          </a:prstGeom>
          <a:noFill/>
          <a:ln/>
        </p:spPr>
        <p:txBody>
          <a:bodyPr wrap="square" lIns="0" tIns="0" rIns="0" bIns="0" rtlCol="0" anchor="t"/>
          <a:lstStyle/>
          <a:p>
            <a:pPr marL="0" indent="0" algn="l">
              <a:lnSpc>
                <a:spcPct val="113000"/>
              </a:lnSpc>
              <a:spcAft>
                <a:spcPts val="1300"/>
              </a:spcAft>
              <a:buNone/>
            </a:pPr>
            <a:r>
              <a:rPr lang="en-US" sz="1200" dirty="0">
                <a:solidFill>
                  <a:srgbClr val="1E2A44"/>
                </a:solidFill>
                <a:latin typeface="Figtree" pitchFamily="34" charset="0"/>
                <a:ea typeface="Figtree" pitchFamily="34" charset="-122"/>
                <a:cs typeface="Figtree" pitchFamily="34" charset="-120"/>
              </a:rPr>
              <a:t>Activity: 35 · 52 · 47 · 70 · 88 · 78</a:t>
            </a:r>
            <a:endParaRPr lang="en-US" sz="1200" dirty="0"/>
          </a:p>
          <a:p>
            <a:pPr marL="0" indent="0" algn="l">
              <a:lnSpc>
                <a:spcPct val="113000"/>
              </a:lnSpc>
              <a:buNone/>
            </a:pPr>
            <a:r>
              <a:rPr lang="en-US" sz="1200" dirty="0">
                <a:solidFill>
                  <a:srgbClr val="1E2A44"/>
                </a:solidFill>
                <a:latin typeface="Figtree" pitchFamily="34" charset="0"/>
                <a:ea typeface="Figtree" pitchFamily="34" charset="-122"/>
                <a:cs typeface="Figtree" pitchFamily="34" charset="-120"/>
              </a:rPr>
              <a:t>Centralize interns, mentors, tasks, attendance, evaluations, progress and communication in one web application.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1981"/>
            <a:ext cx="11582110" cy="104775"/>
          </a:xfrm>
          <a:prstGeom prst="rect">
            <a:avLst/>
          </a:prstGeom>
          <a:noFill/>
          <a:ln/>
        </p:spPr>
        <p:txBody>
          <a:bodyPr wrap="none" lIns="0" tIns="0" rIns="0" bIns="0" rtlCol="0" anchor="t"/>
          <a:lstStyle/>
          <a:p>
            <a:pPr marL="0" indent="0" algn="l">
              <a:lnSpc>
                <a:spcPct val="104000"/>
              </a:lnSpc>
              <a:buNone/>
            </a:pPr>
            <a:r>
              <a:rPr lang="en-US" sz="650" kern="100" spc="40" dirty="0">
                <a:solidFill>
                  <a:srgbClr val="1E2A44"/>
                </a:solidFill>
                <a:latin typeface="Red Hat Mono Medium" pitchFamily="34" charset="0"/>
                <a:ea typeface="Red Hat Mono Medium" pitchFamily="34" charset="-122"/>
                <a:cs typeface="Red Hat Mono Medium" pitchFamily="34" charset="-120"/>
              </a:rPr>
              <a:t>SOLUTION BLUEPRINT</a:t>
            </a:r>
            <a:endParaRPr lang="en-US" sz="650" dirty="0"/>
          </a:p>
        </p:txBody>
      </p:sp>
      <p:sp>
        <p:nvSpPr>
          <p:cNvPr id="3" name="Text 1"/>
          <p:cNvSpPr/>
          <p:nvPr/>
        </p:nvSpPr>
        <p:spPr>
          <a:xfrm>
            <a:off x="609585" y="767598"/>
            <a:ext cx="10972526" cy="368002"/>
          </a:xfrm>
          <a:prstGeom prst="rect">
            <a:avLst/>
          </a:prstGeom>
          <a:noFill/>
          <a:ln/>
        </p:spPr>
        <p:txBody>
          <a:bodyPr wrap="none" lIns="0" tIns="0" rIns="0" bIns="0" rtlCol="0" anchor="t"/>
          <a:lstStyle/>
          <a:p>
            <a:pPr marL="0" indent="0" algn="l">
              <a:lnSpc>
                <a:spcPct val="88000"/>
              </a:lnSpc>
              <a:buNone/>
            </a:pPr>
            <a:r>
              <a:rPr lang="en-US" sz="2750" kern="100" spc="-55" dirty="0">
                <a:solidFill>
                  <a:srgbClr val="1E2A44"/>
                </a:solidFill>
                <a:latin typeface="Urbanist ExtraBold" pitchFamily="34" charset="0"/>
                <a:ea typeface="Urbanist ExtraBold" pitchFamily="34" charset="-122"/>
                <a:cs typeface="Urbanist ExtraBold" pitchFamily="34" charset="-120"/>
              </a:rPr>
              <a:t>Solution &amp; Technology Stack</a:t>
            </a:r>
            <a:endParaRPr lang="en-US" sz="2750" dirty="0"/>
          </a:p>
        </p:txBody>
      </p:sp>
      <p:sp>
        <p:nvSpPr>
          <p:cNvPr id="4" name="Text 2"/>
          <p:cNvSpPr/>
          <p:nvPr/>
        </p:nvSpPr>
        <p:spPr>
          <a:xfrm>
            <a:off x="609585" y="1181805"/>
            <a:ext cx="11582110" cy="127992"/>
          </a:xfrm>
          <a:prstGeom prst="rect">
            <a:avLst/>
          </a:prstGeom>
          <a:noFill/>
          <a:ln/>
        </p:spPr>
        <p:txBody>
          <a:bodyPr wrap="none" lIns="0" tIns="0" rIns="0" bIns="0" rtlCol="0" anchor="t"/>
          <a:lstStyle/>
          <a:p>
            <a:pPr marL="0" indent="0" algn="l">
              <a:lnSpc>
                <a:spcPct val="93000"/>
              </a:lnSpc>
              <a:buNone/>
            </a:pPr>
            <a:r>
              <a:rPr lang="en-US" sz="900" dirty="0">
                <a:solidFill>
                  <a:srgbClr val="1E2A44"/>
                </a:solidFill>
                <a:latin typeface="Figtree" pitchFamily="34" charset="0"/>
                <a:ea typeface="Figtree" pitchFamily="34" charset="-122"/>
                <a:cs typeface="Figtree" pitchFamily="34" charset="-120"/>
              </a:rPr>
              <a:t>A practical web architecture connects role-based workflows to one database-backed system.</a:t>
            </a:r>
            <a:endParaRPr lang="en-US" sz="900" dirty="0"/>
          </a:p>
        </p:txBody>
      </p:sp>
      <p:sp>
        <p:nvSpPr>
          <p:cNvPr id="5" name="Shape 3"/>
          <p:cNvSpPr/>
          <p:nvPr/>
        </p:nvSpPr>
        <p:spPr>
          <a:xfrm>
            <a:off x="589245" y="1427555"/>
            <a:ext cx="6141586" cy="3276600"/>
          </a:xfrm>
          <a:prstGeom prst="roundRect">
            <a:avLst>
              <a:gd name="adj" fmla="val 6511"/>
            </a:avLst>
          </a:prstGeom>
          <a:solidFill>
            <a:srgbClr val="FFFFFF"/>
          </a:solidFill>
          <a:ln/>
        </p:spPr>
        <p:txBody>
          <a:bodyPr/>
          <a:lstStyle/>
          <a:p>
            <a:endParaRPr lang="en-PK"/>
          </a:p>
        </p:txBody>
      </p:sp>
      <p:sp>
        <p:nvSpPr>
          <p:cNvPr id="6" name="Text 4"/>
          <p:cNvSpPr/>
          <p:nvPr/>
        </p:nvSpPr>
        <p:spPr>
          <a:xfrm>
            <a:off x="728941" y="1504731"/>
            <a:ext cx="5862193" cy="104775"/>
          </a:xfrm>
          <a:prstGeom prst="rect">
            <a:avLst/>
          </a:prstGeom>
          <a:noFill/>
          <a:ln/>
        </p:spPr>
        <p:txBody>
          <a:bodyPr wrap="none" lIns="0" tIns="0" rIns="0" bIns="0" rtlCol="0" anchor="t"/>
          <a:lstStyle/>
          <a:p>
            <a:pPr marL="0" indent="0" algn="l">
              <a:lnSpc>
                <a:spcPct val="104000"/>
              </a:lnSpc>
              <a:buNone/>
            </a:pPr>
            <a:r>
              <a:rPr lang="en-US" sz="650" kern="100" spc="40" dirty="0">
                <a:solidFill>
                  <a:srgbClr val="1E2A44"/>
                </a:solidFill>
                <a:latin typeface="Red Hat Mono Medium" pitchFamily="34" charset="0"/>
                <a:ea typeface="Red Hat Mono Medium" pitchFamily="34" charset="-122"/>
                <a:cs typeface="Red Hat Mono Medium" pitchFamily="34" charset="-120"/>
              </a:rPr>
              <a:t>ARCHITECTURE</a:t>
            </a:r>
            <a:endParaRPr lang="en-US" sz="650" dirty="0"/>
          </a:p>
        </p:txBody>
      </p:sp>
      <p:sp>
        <p:nvSpPr>
          <p:cNvPr id="7" name="Shape 5"/>
          <p:cNvSpPr/>
          <p:nvPr/>
        </p:nvSpPr>
        <p:spPr>
          <a:xfrm>
            <a:off x="678142" y="1694927"/>
            <a:ext cx="5582800" cy="572790"/>
          </a:xfrm>
          <a:prstGeom prst="roundRect">
            <a:avLst>
              <a:gd name="adj" fmla="val 37248"/>
            </a:avLst>
          </a:prstGeom>
          <a:solidFill>
            <a:srgbClr val="FFC83D"/>
          </a:solidFill>
          <a:ln/>
        </p:spPr>
        <p:txBody>
          <a:bodyPr/>
          <a:lstStyle/>
          <a:p>
            <a:endParaRPr lang="en-PK" dirty="0"/>
          </a:p>
        </p:txBody>
      </p:sp>
      <p:sp>
        <p:nvSpPr>
          <p:cNvPr id="8" name="Text 6"/>
          <p:cNvSpPr/>
          <p:nvPr/>
        </p:nvSpPr>
        <p:spPr>
          <a:xfrm>
            <a:off x="794000" y="1773275"/>
            <a:ext cx="5227209" cy="146248"/>
          </a:xfrm>
          <a:prstGeom prst="rect">
            <a:avLst/>
          </a:prstGeom>
          <a:noFill/>
          <a:ln/>
        </p:spPr>
        <p:txBody>
          <a:bodyPr wrap="none" lIns="0" tIns="0" rIns="0" bIns="0" rtlCol="0" anchor="t"/>
          <a:lstStyle/>
          <a:p>
            <a:pPr marL="0" indent="0" algn="l">
              <a:lnSpc>
                <a:spcPct val="100000"/>
              </a:lnSpc>
              <a:buNone/>
            </a:pPr>
            <a:r>
              <a:rPr lang="en-US" sz="950" dirty="0">
                <a:solidFill>
                  <a:srgbClr val="000000"/>
                </a:solidFill>
                <a:latin typeface="Figtree SemiBold" pitchFamily="34" charset="0"/>
                <a:ea typeface="Figtree SemiBold" pitchFamily="34" charset="-122"/>
                <a:cs typeface="Figtree SemiBold" pitchFamily="34" charset="-120"/>
              </a:rPr>
              <a:t>React.js + Vite</a:t>
            </a:r>
            <a:endParaRPr lang="en-US" sz="950" dirty="0"/>
          </a:p>
        </p:txBody>
      </p:sp>
      <p:sp>
        <p:nvSpPr>
          <p:cNvPr id="9" name="Text 7"/>
          <p:cNvSpPr/>
          <p:nvPr/>
        </p:nvSpPr>
        <p:spPr>
          <a:xfrm>
            <a:off x="787380" y="1968239"/>
            <a:ext cx="5405005" cy="123428"/>
          </a:xfrm>
          <a:prstGeom prst="rect">
            <a:avLst/>
          </a:prstGeom>
          <a:noFill/>
          <a:ln/>
        </p:spPr>
        <p:txBody>
          <a:bodyPr wrap="none" lIns="0" tIns="0" rIns="0" bIns="0" rtlCol="0" anchor="t"/>
          <a:lstStyle/>
          <a:p>
            <a:pPr marL="0" indent="0" algn="l">
              <a:lnSpc>
                <a:spcPct val="113000"/>
              </a:lnSpc>
              <a:buNone/>
            </a:pPr>
            <a:r>
              <a:rPr lang="en-US" sz="700" dirty="0">
                <a:solidFill>
                  <a:srgbClr val="000000"/>
                </a:solidFill>
                <a:latin typeface="Figtree" pitchFamily="34" charset="0"/>
                <a:ea typeface="Figtree" pitchFamily="34" charset="-122"/>
                <a:cs typeface="Figtree" pitchFamily="34" charset="-120"/>
              </a:rPr>
              <a:t>Fast, component-based interface</a:t>
            </a:r>
            <a:endParaRPr lang="en-US" sz="700" dirty="0"/>
          </a:p>
        </p:txBody>
      </p:sp>
      <p:sp>
        <p:nvSpPr>
          <p:cNvPr id="10" name="Shape 8"/>
          <p:cNvSpPr/>
          <p:nvPr/>
        </p:nvSpPr>
        <p:spPr>
          <a:xfrm>
            <a:off x="678142" y="2433264"/>
            <a:ext cx="5582800" cy="572790"/>
          </a:xfrm>
          <a:prstGeom prst="roundRect">
            <a:avLst>
              <a:gd name="adj" fmla="val 37248"/>
            </a:avLst>
          </a:prstGeom>
          <a:solidFill>
            <a:srgbClr val="3FC89A"/>
          </a:solidFill>
          <a:ln/>
        </p:spPr>
        <p:txBody>
          <a:bodyPr/>
          <a:lstStyle/>
          <a:p>
            <a:endParaRPr lang="en-PK"/>
          </a:p>
        </p:txBody>
      </p:sp>
      <p:sp>
        <p:nvSpPr>
          <p:cNvPr id="11" name="Text 9"/>
          <p:cNvSpPr/>
          <p:nvPr/>
        </p:nvSpPr>
        <p:spPr>
          <a:xfrm>
            <a:off x="787380" y="2494458"/>
            <a:ext cx="5227209" cy="146248"/>
          </a:xfrm>
          <a:prstGeom prst="rect">
            <a:avLst/>
          </a:prstGeom>
          <a:noFill/>
          <a:ln/>
        </p:spPr>
        <p:txBody>
          <a:bodyPr wrap="none" lIns="0" tIns="0" rIns="0" bIns="0" rtlCol="0" anchor="t"/>
          <a:lstStyle/>
          <a:p>
            <a:pPr marL="0" indent="0" algn="l">
              <a:lnSpc>
                <a:spcPct val="100000"/>
              </a:lnSpc>
              <a:buNone/>
            </a:pPr>
            <a:r>
              <a:rPr lang="en-US" sz="950" dirty="0">
                <a:solidFill>
                  <a:srgbClr val="000000"/>
                </a:solidFill>
                <a:latin typeface="Figtree SemiBold" pitchFamily="34" charset="0"/>
                <a:ea typeface="Figtree SemiBold" pitchFamily="34" charset="-122"/>
                <a:cs typeface="Figtree SemiBold" pitchFamily="34" charset="-120"/>
              </a:rPr>
              <a:t>Axios / REST APIs</a:t>
            </a:r>
            <a:endParaRPr lang="en-US" sz="950" dirty="0"/>
          </a:p>
        </p:txBody>
      </p:sp>
      <p:sp>
        <p:nvSpPr>
          <p:cNvPr id="12" name="Text 10"/>
          <p:cNvSpPr/>
          <p:nvPr/>
        </p:nvSpPr>
        <p:spPr>
          <a:xfrm>
            <a:off x="787379" y="2668065"/>
            <a:ext cx="5405005" cy="123428"/>
          </a:xfrm>
          <a:prstGeom prst="rect">
            <a:avLst/>
          </a:prstGeom>
          <a:noFill/>
          <a:ln/>
        </p:spPr>
        <p:txBody>
          <a:bodyPr wrap="none" lIns="0" tIns="0" rIns="0" bIns="0" rtlCol="0" anchor="t"/>
          <a:lstStyle/>
          <a:p>
            <a:pPr marL="0" indent="0" algn="l">
              <a:lnSpc>
                <a:spcPct val="113000"/>
              </a:lnSpc>
              <a:buNone/>
            </a:pPr>
            <a:r>
              <a:rPr lang="en-US" sz="700" dirty="0">
                <a:solidFill>
                  <a:srgbClr val="000000"/>
                </a:solidFill>
                <a:latin typeface="Figtree" pitchFamily="34" charset="0"/>
                <a:ea typeface="Figtree" pitchFamily="34" charset="-122"/>
                <a:cs typeface="Figtree" pitchFamily="34" charset="-120"/>
              </a:rPr>
              <a:t>Reliable client-to-server communication</a:t>
            </a:r>
            <a:endParaRPr lang="en-US" sz="700" dirty="0"/>
          </a:p>
        </p:txBody>
      </p:sp>
      <p:sp>
        <p:nvSpPr>
          <p:cNvPr id="13" name="Shape 11"/>
          <p:cNvSpPr/>
          <p:nvPr/>
        </p:nvSpPr>
        <p:spPr>
          <a:xfrm>
            <a:off x="698481" y="3187922"/>
            <a:ext cx="5582800" cy="572790"/>
          </a:xfrm>
          <a:prstGeom prst="roundRect">
            <a:avLst>
              <a:gd name="adj" fmla="val 37248"/>
            </a:avLst>
          </a:prstGeom>
          <a:solidFill>
            <a:srgbClr val="9B7BFF"/>
          </a:solidFill>
          <a:ln/>
        </p:spPr>
        <p:txBody>
          <a:bodyPr/>
          <a:lstStyle/>
          <a:p>
            <a:endParaRPr lang="en-PK"/>
          </a:p>
        </p:txBody>
      </p:sp>
      <p:sp>
        <p:nvSpPr>
          <p:cNvPr id="14" name="Text 12"/>
          <p:cNvSpPr/>
          <p:nvPr/>
        </p:nvSpPr>
        <p:spPr>
          <a:xfrm>
            <a:off x="794000" y="3233811"/>
            <a:ext cx="5227209" cy="146248"/>
          </a:xfrm>
          <a:prstGeom prst="rect">
            <a:avLst/>
          </a:prstGeom>
          <a:noFill/>
          <a:ln/>
        </p:spPr>
        <p:txBody>
          <a:bodyPr wrap="none" lIns="0" tIns="0" rIns="0" bIns="0" rtlCol="0" anchor="t"/>
          <a:lstStyle/>
          <a:p>
            <a:pPr marL="0" indent="0" algn="l">
              <a:lnSpc>
                <a:spcPct val="100000"/>
              </a:lnSpc>
              <a:buNone/>
            </a:pPr>
            <a:r>
              <a:rPr lang="en-US" sz="950" dirty="0">
                <a:solidFill>
                  <a:srgbClr val="FFFFFF"/>
                </a:solidFill>
                <a:latin typeface="Figtree SemiBold" pitchFamily="34" charset="0"/>
                <a:ea typeface="Figtree SemiBold" pitchFamily="34" charset="-122"/>
                <a:cs typeface="Figtree SemiBold" pitchFamily="34" charset="-120"/>
              </a:rPr>
              <a:t>Node.js + Express.js</a:t>
            </a:r>
            <a:endParaRPr lang="en-US" sz="950" dirty="0"/>
          </a:p>
        </p:txBody>
      </p:sp>
      <p:sp>
        <p:nvSpPr>
          <p:cNvPr id="15" name="Text 13"/>
          <p:cNvSpPr/>
          <p:nvPr/>
        </p:nvSpPr>
        <p:spPr>
          <a:xfrm>
            <a:off x="794000" y="3436103"/>
            <a:ext cx="5405005" cy="123428"/>
          </a:xfrm>
          <a:prstGeom prst="rect">
            <a:avLst/>
          </a:prstGeom>
          <a:noFill/>
          <a:ln/>
        </p:spPr>
        <p:txBody>
          <a:bodyPr wrap="none" lIns="0" tIns="0" rIns="0" bIns="0" rtlCol="0" anchor="t"/>
          <a:lstStyle/>
          <a:p>
            <a:pPr marL="0" indent="0" algn="l">
              <a:lnSpc>
                <a:spcPct val="113000"/>
              </a:lnSpc>
              <a:buNone/>
            </a:pPr>
            <a:r>
              <a:rPr lang="en-US" sz="700" dirty="0">
                <a:solidFill>
                  <a:srgbClr val="FFFFFF"/>
                </a:solidFill>
                <a:latin typeface="Figtree" pitchFamily="34" charset="0"/>
                <a:ea typeface="Figtree" pitchFamily="34" charset="-122"/>
                <a:cs typeface="Figtree" pitchFamily="34" charset="-120"/>
              </a:rPr>
              <a:t>Application logic and API layer</a:t>
            </a:r>
            <a:endParaRPr lang="en-US" sz="700" dirty="0"/>
          </a:p>
        </p:txBody>
      </p:sp>
      <p:sp>
        <p:nvSpPr>
          <p:cNvPr id="16" name="Shape 14"/>
          <p:cNvSpPr/>
          <p:nvPr/>
        </p:nvSpPr>
        <p:spPr>
          <a:xfrm>
            <a:off x="678142" y="3946949"/>
            <a:ext cx="5582800" cy="572790"/>
          </a:xfrm>
          <a:prstGeom prst="roundRect">
            <a:avLst>
              <a:gd name="adj" fmla="val 37248"/>
            </a:avLst>
          </a:prstGeom>
          <a:solidFill>
            <a:srgbClr val="FF8A3D"/>
          </a:solidFill>
          <a:ln/>
        </p:spPr>
        <p:txBody>
          <a:bodyPr/>
          <a:lstStyle/>
          <a:p>
            <a:endParaRPr lang="en-PK"/>
          </a:p>
        </p:txBody>
      </p:sp>
      <p:sp>
        <p:nvSpPr>
          <p:cNvPr id="17" name="Text 15"/>
          <p:cNvSpPr/>
          <p:nvPr/>
        </p:nvSpPr>
        <p:spPr>
          <a:xfrm>
            <a:off x="787379" y="4017734"/>
            <a:ext cx="5227209" cy="146248"/>
          </a:xfrm>
          <a:prstGeom prst="rect">
            <a:avLst/>
          </a:prstGeom>
          <a:noFill/>
          <a:ln/>
        </p:spPr>
        <p:txBody>
          <a:bodyPr wrap="none" lIns="0" tIns="0" rIns="0" bIns="0" rtlCol="0" anchor="t"/>
          <a:lstStyle/>
          <a:p>
            <a:pPr marL="0" indent="0" algn="l">
              <a:lnSpc>
                <a:spcPct val="100000"/>
              </a:lnSpc>
              <a:buNone/>
            </a:pPr>
            <a:r>
              <a:rPr lang="en-US" sz="950" dirty="0">
                <a:solidFill>
                  <a:srgbClr val="000000"/>
                </a:solidFill>
                <a:latin typeface="Figtree SemiBold" pitchFamily="34" charset="0"/>
                <a:ea typeface="Figtree SemiBold" pitchFamily="34" charset="-122"/>
                <a:cs typeface="Figtree SemiBold" pitchFamily="34" charset="-120"/>
              </a:rPr>
              <a:t>Microsoft SQL Server</a:t>
            </a:r>
            <a:endParaRPr lang="en-US" sz="950" dirty="0"/>
          </a:p>
        </p:txBody>
      </p:sp>
      <p:sp>
        <p:nvSpPr>
          <p:cNvPr id="18" name="Text 16"/>
          <p:cNvSpPr/>
          <p:nvPr/>
        </p:nvSpPr>
        <p:spPr>
          <a:xfrm>
            <a:off x="794000" y="4174626"/>
            <a:ext cx="5405005" cy="123428"/>
          </a:xfrm>
          <a:prstGeom prst="rect">
            <a:avLst/>
          </a:prstGeom>
          <a:noFill/>
          <a:ln/>
        </p:spPr>
        <p:txBody>
          <a:bodyPr wrap="none" lIns="0" tIns="0" rIns="0" bIns="0" rtlCol="0" anchor="t"/>
          <a:lstStyle/>
          <a:p>
            <a:pPr marL="0" indent="0" algn="l">
              <a:lnSpc>
                <a:spcPct val="113000"/>
              </a:lnSpc>
              <a:buNone/>
            </a:pPr>
            <a:r>
              <a:rPr lang="en-US" sz="700" dirty="0">
                <a:solidFill>
                  <a:srgbClr val="000000"/>
                </a:solidFill>
                <a:latin typeface="Figtree" pitchFamily="34" charset="0"/>
                <a:ea typeface="Figtree" pitchFamily="34" charset="-122"/>
                <a:cs typeface="Figtree" pitchFamily="34" charset="-120"/>
              </a:rPr>
              <a:t>Structured, persistent data storage</a:t>
            </a:r>
            <a:endParaRPr lang="en-US" sz="700" dirty="0"/>
          </a:p>
        </p:txBody>
      </p:sp>
      <p:sp>
        <p:nvSpPr>
          <p:cNvPr id="20" name="Text 18"/>
          <p:cNvSpPr/>
          <p:nvPr/>
        </p:nvSpPr>
        <p:spPr>
          <a:xfrm>
            <a:off x="678142" y="4924024"/>
            <a:ext cx="1695308" cy="114300"/>
          </a:xfrm>
          <a:prstGeom prst="rect">
            <a:avLst/>
          </a:prstGeom>
          <a:noFill/>
          <a:ln/>
        </p:spPr>
        <p:txBody>
          <a:bodyPr wrap="none" lIns="0" tIns="0" rIns="0" bIns="0" rtlCol="0" anchor="t"/>
          <a:lstStyle/>
          <a:p>
            <a:pPr marL="0" indent="0" algn="l">
              <a:lnSpc>
                <a:spcPct val="104000"/>
              </a:lnSpc>
              <a:buNone/>
            </a:pPr>
            <a:r>
              <a:rPr lang="en-US" sz="700" kern="100" spc="43" dirty="0">
                <a:solidFill>
                  <a:srgbClr val="1E2A44"/>
                </a:solidFill>
                <a:latin typeface="Red Hat Mono Medium" pitchFamily="34" charset="0"/>
                <a:ea typeface="Red Hat Mono Medium" pitchFamily="34" charset="-122"/>
                <a:cs typeface="Red Hat Mono Medium" pitchFamily="34" charset="-120"/>
              </a:rPr>
              <a:t>JWT AUTHENTICATION</a:t>
            </a:r>
            <a:endParaRPr lang="en-US" sz="700" dirty="0"/>
          </a:p>
        </p:txBody>
      </p:sp>
      <p:sp>
        <p:nvSpPr>
          <p:cNvPr id="22" name="Text 20"/>
          <p:cNvSpPr/>
          <p:nvPr/>
        </p:nvSpPr>
        <p:spPr>
          <a:xfrm>
            <a:off x="2879016" y="4944026"/>
            <a:ext cx="1333367" cy="114300"/>
          </a:xfrm>
          <a:prstGeom prst="rect">
            <a:avLst/>
          </a:prstGeom>
          <a:noFill/>
          <a:ln/>
        </p:spPr>
        <p:txBody>
          <a:bodyPr wrap="none" lIns="0" tIns="0" rIns="0" bIns="0" rtlCol="0" anchor="t"/>
          <a:lstStyle/>
          <a:p>
            <a:pPr marL="0" indent="0" algn="l">
              <a:lnSpc>
                <a:spcPct val="104000"/>
              </a:lnSpc>
              <a:buNone/>
            </a:pPr>
            <a:r>
              <a:rPr lang="en-US" sz="700" kern="100" spc="43" dirty="0">
                <a:solidFill>
                  <a:srgbClr val="1E2A44"/>
                </a:solidFill>
                <a:latin typeface="Red Hat Mono Medium" pitchFamily="34" charset="0"/>
                <a:ea typeface="Red Hat Mono Medium" pitchFamily="34" charset="-122"/>
                <a:cs typeface="Red Hat Mono Medium" pitchFamily="34" charset="-120"/>
              </a:rPr>
              <a:t>TAILWIND CSS</a:t>
            </a:r>
            <a:endParaRPr lang="en-US" sz="700" dirty="0"/>
          </a:p>
        </p:txBody>
      </p:sp>
      <p:sp>
        <p:nvSpPr>
          <p:cNvPr id="24" name="Text 22"/>
          <p:cNvSpPr/>
          <p:nvPr/>
        </p:nvSpPr>
        <p:spPr>
          <a:xfrm>
            <a:off x="698481" y="5346334"/>
            <a:ext cx="1092173" cy="114300"/>
          </a:xfrm>
          <a:prstGeom prst="rect">
            <a:avLst/>
          </a:prstGeom>
          <a:noFill/>
          <a:ln/>
        </p:spPr>
        <p:txBody>
          <a:bodyPr wrap="none" lIns="0" tIns="0" rIns="0" bIns="0" rtlCol="0" anchor="t"/>
          <a:lstStyle/>
          <a:p>
            <a:pPr marL="0" indent="0" algn="l">
              <a:lnSpc>
                <a:spcPct val="104000"/>
              </a:lnSpc>
              <a:buNone/>
            </a:pPr>
            <a:r>
              <a:rPr lang="en-US" sz="700" kern="100" spc="43" dirty="0">
                <a:solidFill>
                  <a:srgbClr val="1E2A44"/>
                </a:solidFill>
                <a:latin typeface="Red Hat Mono Medium" pitchFamily="34" charset="0"/>
                <a:ea typeface="Red Hat Mono Medium" pitchFamily="34" charset="-122"/>
                <a:cs typeface="Red Hat Mono Medium" pitchFamily="34" charset="-120"/>
              </a:rPr>
              <a:t>RECHARTS</a:t>
            </a:r>
            <a:endParaRPr lang="en-US" sz="700" dirty="0"/>
          </a:p>
        </p:txBody>
      </p:sp>
      <p:sp>
        <p:nvSpPr>
          <p:cNvPr id="26" name="Text 24"/>
          <p:cNvSpPr/>
          <p:nvPr/>
        </p:nvSpPr>
        <p:spPr>
          <a:xfrm>
            <a:off x="2874098" y="5302079"/>
            <a:ext cx="1514338" cy="114300"/>
          </a:xfrm>
          <a:prstGeom prst="rect">
            <a:avLst/>
          </a:prstGeom>
          <a:noFill/>
          <a:ln/>
        </p:spPr>
        <p:txBody>
          <a:bodyPr wrap="none" lIns="0" tIns="0" rIns="0" bIns="0" rtlCol="0" anchor="t"/>
          <a:lstStyle/>
          <a:p>
            <a:pPr marL="0" indent="0" algn="l">
              <a:lnSpc>
                <a:spcPct val="104000"/>
              </a:lnSpc>
              <a:buNone/>
            </a:pPr>
            <a:r>
              <a:rPr lang="en-US" sz="700" kern="100" spc="43" dirty="0">
                <a:solidFill>
                  <a:srgbClr val="1E2A44"/>
                </a:solidFill>
                <a:latin typeface="Red Hat Mono Medium" pitchFamily="34" charset="0"/>
                <a:ea typeface="Red Hat Mono Medium" pitchFamily="34" charset="-122"/>
                <a:cs typeface="Red Hat Mono Medium" pitchFamily="34" charset="-120"/>
              </a:rPr>
              <a:t>CRUD OPERATIONS</a:t>
            </a:r>
            <a:endParaRPr lang="en-US" sz="700" dirty="0"/>
          </a:p>
        </p:txBody>
      </p:sp>
      <p:sp>
        <p:nvSpPr>
          <p:cNvPr id="27" name="Text 25"/>
          <p:cNvSpPr/>
          <p:nvPr/>
        </p:nvSpPr>
        <p:spPr>
          <a:xfrm>
            <a:off x="7162987" y="1217142"/>
            <a:ext cx="5135831" cy="104775"/>
          </a:xfrm>
          <a:prstGeom prst="rect">
            <a:avLst/>
          </a:prstGeom>
          <a:noFill/>
          <a:ln/>
        </p:spPr>
        <p:txBody>
          <a:bodyPr wrap="none" lIns="0" tIns="0" rIns="0" bIns="0" rtlCol="0" anchor="t"/>
          <a:lstStyle/>
          <a:p>
            <a:pPr marL="0" indent="0" algn="l">
              <a:lnSpc>
                <a:spcPct val="104000"/>
              </a:lnSpc>
              <a:buNone/>
            </a:pPr>
            <a:r>
              <a:rPr lang="en-US" sz="650" kern="100" spc="40" dirty="0">
                <a:solidFill>
                  <a:srgbClr val="1E2A44"/>
                </a:solidFill>
                <a:latin typeface="Red Hat Mono Medium" pitchFamily="34" charset="0"/>
                <a:ea typeface="Red Hat Mono Medium" pitchFamily="34" charset="-122"/>
                <a:cs typeface="Red Hat Mono Medium" pitchFamily="34" charset="-120"/>
              </a:rPr>
              <a:t>ROLE-BASED VALUE</a:t>
            </a:r>
            <a:endParaRPr lang="en-US" sz="650" dirty="0"/>
          </a:p>
        </p:txBody>
      </p:sp>
      <p:sp>
        <p:nvSpPr>
          <p:cNvPr id="28" name="Shape 26"/>
          <p:cNvSpPr/>
          <p:nvPr/>
        </p:nvSpPr>
        <p:spPr>
          <a:xfrm>
            <a:off x="7208260" y="1427555"/>
            <a:ext cx="1407085" cy="1720155"/>
          </a:xfrm>
          <a:prstGeom prst="roundRect">
            <a:avLst>
              <a:gd name="adj" fmla="val 15163"/>
            </a:avLst>
          </a:prstGeom>
          <a:solidFill>
            <a:srgbClr val="FFFFFF"/>
          </a:solidFill>
          <a:ln/>
        </p:spPr>
        <p:txBody>
          <a:bodyPr/>
          <a:lstStyle/>
          <a:p>
            <a:endParaRPr lang="en-PK"/>
          </a:p>
        </p:txBody>
      </p:sp>
      <p:pic>
        <p:nvPicPr>
          <p:cNvPr id="29" name="Image 0" descr="preencoded.png"/>
          <p:cNvPicPr>
            <a:picLocks noChangeAspect="1"/>
          </p:cNvPicPr>
          <p:nvPr/>
        </p:nvPicPr>
        <p:blipFill>
          <a:blip r:embed="rId3"/>
          <a:stretch>
            <a:fillRect/>
          </a:stretch>
        </p:blipFill>
        <p:spPr>
          <a:xfrm>
            <a:off x="7330197" y="1520704"/>
            <a:ext cx="228594" cy="228600"/>
          </a:xfrm>
          <a:prstGeom prst="rect">
            <a:avLst/>
          </a:prstGeom>
        </p:spPr>
      </p:pic>
      <p:sp>
        <p:nvSpPr>
          <p:cNvPr id="30" name="Text 27"/>
          <p:cNvSpPr/>
          <p:nvPr/>
        </p:nvSpPr>
        <p:spPr>
          <a:xfrm>
            <a:off x="7407533" y="1798462"/>
            <a:ext cx="1000695" cy="182860"/>
          </a:xfrm>
          <a:prstGeom prst="rect">
            <a:avLst/>
          </a:prstGeom>
          <a:noFill/>
          <a:ln/>
        </p:spPr>
        <p:txBody>
          <a:bodyPr wrap="none" lIns="0" tIns="0" rIns="0" bIns="0" rtlCol="0" anchor="t"/>
          <a:lstStyle/>
          <a:p>
            <a:pPr marL="0" indent="0" algn="l">
              <a:lnSpc>
                <a:spcPct val="100000"/>
              </a:lnSpc>
              <a:buNone/>
            </a:pPr>
            <a:r>
              <a:rPr lang="en-US" sz="1200" dirty="0">
                <a:solidFill>
                  <a:srgbClr val="1E2A44"/>
                </a:solidFill>
                <a:latin typeface="Urbanist SemiBold" pitchFamily="34" charset="0"/>
                <a:ea typeface="Urbanist SemiBold" pitchFamily="34" charset="-122"/>
                <a:cs typeface="Urbanist SemiBold" pitchFamily="34" charset="-120"/>
              </a:rPr>
              <a:t>Admin / HR</a:t>
            </a:r>
            <a:endParaRPr lang="en-US" sz="1200" dirty="0"/>
          </a:p>
        </p:txBody>
      </p:sp>
      <p:sp>
        <p:nvSpPr>
          <p:cNvPr id="31" name="Text 28"/>
          <p:cNvSpPr/>
          <p:nvPr/>
        </p:nvSpPr>
        <p:spPr>
          <a:xfrm>
            <a:off x="7426680" y="2108204"/>
            <a:ext cx="1000695" cy="740569"/>
          </a:xfrm>
          <a:prstGeom prst="rect">
            <a:avLst/>
          </a:prstGeom>
          <a:noFill/>
          <a:ln/>
        </p:spPr>
        <p:txBody>
          <a:bodyPr wrap="square" lIns="0" tIns="0" rIns="0" bIns="0" rtlCol="0" anchor="t">
            <a:normAutofit/>
          </a:bodyPr>
          <a:lstStyle/>
          <a:p>
            <a:pPr marL="0" indent="0" algn="l">
              <a:lnSpc>
                <a:spcPct val="113000"/>
              </a:lnSpc>
              <a:buNone/>
            </a:pPr>
            <a:r>
              <a:rPr lang="en-US" sz="700" dirty="0">
                <a:solidFill>
                  <a:srgbClr val="1E2A44"/>
                </a:solidFill>
                <a:latin typeface="Figtree" pitchFamily="34" charset="0"/>
                <a:ea typeface="Figtree" pitchFamily="34" charset="-122"/>
                <a:cs typeface="Figtree" pitchFamily="34" charset="-120"/>
              </a:rPr>
              <a:t>Manage interns and mentors, organize departments, assign tasks, monitor attendance and review performance analytics.</a:t>
            </a:r>
            <a:endParaRPr lang="en-US" sz="700" dirty="0"/>
          </a:p>
        </p:txBody>
      </p:sp>
      <p:sp>
        <p:nvSpPr>
          <p:cNvPr id="32" name="Shape 29"/>
          <p:cNvSpPr/>
          <p:nvPr/>
        </p:nvSpPr>
        <p:spPr>
          <a:xfrm>
            <a:off x="9538057" y="1427554"/>
            <a:ext cx="1407184" cy="1720155"/>
          </a:xfrm>
          <a:prstGeom prst="roundRect">
            <a:avLst>
              <a:gd name="adj" fmla="val 15162"/>
            </a:avLst>
          </a:prstGeom>
          <a:solidFill>
            <a:srgbClr val="FFFFFF"/>
          </a:solidFill>
          <a:ln/>
        </p:spPr>
        <p:txBody>
          <a:bodyPr/>
          <a:lstStyle/>
          <a:p>
            <a:endParaRPr lang="en-PK"/>
          </a:p>
        </p:txBody>
      </p:sp>
      <p:pic>
        <p:nvPicPr>
          <p:cNvPr id="33" name="Image 1" descr="preencoded.png"/>
          <p:cNvPicPr>
            <a:picLocks noChangeAspect="1"/>
          </p:cNvPicPr>
          <p:nvPr/>
        </p:nvPicPr>
        <p:blipFill>
          <a:blip r:embed="rId4"/>
          <a:stretch>
            <a:fillRect/>
          </a:stretch>
        </p:blipFill>
        <p:spPr>
          <a:xfrm>
            <a:off x="9620646" y="1593703"/>
            <a:ext cx="228594" cy="228600"/>
          </a:xfrm>
          <a:prstGeom prst="rect">
            <a:avLst/>
          </a:prstGeom>
        </p:spPr>
      </p:pic>
      <p:sp>
        <p:nvSpPr>
          <p:cNvPr id="34" name="Text 30"/>
          <p:cNvSpPr/>
          <p:nvPr/>
        </p:nvSpPr>
        <p:spPr>
          <a:xfrm>
            <a:off x="9730902" y="1836510"/>
            <a:ext cx="1000794" cy="182860"/>
          </a:xfrm>
          <a:prstGeom prst="rect">
            <a:avLst/>
          </a:prstGeom>
          <a:noFill/>
          <a:ln/>
        </p:spPr>
        <p:txBody>
          <a:bodyPr wrap="none" lIns="0" tIns="0" rIns="0" bIns="0" rtlCol="0" anchor="t"/>
          <a:lstStyle/>
          <a:p>
            <a:pPr marL="0" indent="0" algn="l">
              <a:lnSpc>
                <a:spcPct val="100000"/>
              </a:lnSpc>
              <a:buNone/>
            </a:pPr>
            <a:r>
              <a:rPr lang="en-US" sz="1200" dirty="0">
                <a:solidFill>
                  <a:srgbClr val="1E2A44"/>
                </a:solidFill>
                <a:latin typeface="Urbanist SemiBold" pitchFamily="34" charset="0"/>
                <a:ea typeface="Urbanist SemiBold" pitchFamily="34" charset="-122"/>
                <a:cs typeface="Urbanist SemiBold" pitchFamily="34" charset="-120"/>
              </a:rPr>
              <a:t>Mentor</a:t>
            </a:r>
            <a:endParaRPr lang="en-US" sz="1200" dirty="0"/>
          </a:p>
        </p:txBody>
      </p:sp>
      <p:sp>
        <p:nvSpPr>
          <p:cNvPr id="35" name="Text 31"/>
          <p:cNvSpPr/>
          <p:nvPr/>
        </p:nvSpPr>
        <p:spPr>
          <a:xfrm>
            <a:off x="9730902" y="2118116"/>
            <a:ext cx="1000794" cy="617141"/>
          </a:xfrm>
          <a:prstGeom prst="rect">
            <a:avLst/>
          </a:prstGeom>
          <a:noFill/>
          <a:ln/>
        </p:spPr>
        <p:txBody>
          <a:bodyPr wrap="square" lIns="0" tIns="0" rIns="0" bIns="0" rtlCol="0" anchor="t">
            <a:normAutofit/>
          </a:bodyPr>
          <a:lstStyle/>
          <a:p>
            <a:pPr marL="0" indent="0" algn="l">
              <a:lnSpc>
                <a:spcPct val="113000"/>
              </a:lnSpc>
              <a:buNone/>
            </a:pPr>
            <a:r>
              <a:rPr lang="en-US" sz="700" dirty="0">
                <a:solidFill>
                  <a:srgbClr val="1E2A44"/>
                </a:solidFill>
                <a:latin typeface="Figtree" pitchFamily="34" charset="0"/>
                <a:ea typeface="Figtree" pitchFamily="34" charset="-122"/>
                <a:cs typeface="Figtree" pitchFamily="34" charset="-120"/>
              </a:rPr>
              <a:t>See assigned interns, review tasks, evaluate performance and provide structured feedback.</a:t>
            </a:r>
            <a:endParaRPr lang="en-US" sz="700" dirty="0"/>
          </a:p>
        </p:txBody>
      </p:sp>
      <p:sp>
        <p:nvSpPr>
          <p:cNvPr id="36" name="Shape 32"/>
          <p:cNvSpPr/>
          <p:nvPr/>
        </p:nvSpPr>
        <p:spPr>
          <a:xfrm>
            <a:off x="8521387" y="3492394"/>
            <a:ext cx="1407184" cy="1720155"/>
          </a:xfrm>
          <a:prstGeom prst="roundRect">
            <a:avLst>
              <a:gd name="adj" fmla="val 15162"/>
            </a:avLst>
          </a:prstGeom>
          <a:solidFill>
            <a:srgbClr val="FFFFFF"/>
          </a:solidFill>
          <a:ln/>
        </p:spPr>
        <p:txBody>
          <a:bodyPr/>
          <a:lstStyle/>
          <a:p>
            <a:endParaRPr lang="en-PK"/>
          </a:p>
        </p:txBody>
      </p:sp>
      <p:pic>
        <p:nvPicPr>
          <p:cNvPr id="37" name="Image 2" descr="preencoded.png"/>
          <p:cNvPicPr>
            <a:picLocks noChangeAspect="1"/>
          </p:cNvPicPr>
          <p:nvPr/>
        </p:nvPicPr>
        <p:blipFill>
          <a:blip r:embed="rId5"/>
          <a:stretch>
            <a:fillRect/>
          </a:stretch>
        </p:blipFill>
        <p:spPr>
          <a:xfrm>
            <a:off x="8690637" y="3646412"/>
            <a:ext cx="228594" cy="228600"/>
          </a:xfrm>
          <a:prstGeom prst="rect">
            <a:avLst/>
          </a:prstGeom>
        </p:spPr>
      </p:pic>
      <p:sp>
        <p:nvSpPr>
          <p:cNvPr id="38" name="Text 33"/>
          <p:cNvSpPr/>
          <p:nvPr/>
        </p:nvSpPr>
        <p:spPr>
          <a:xfrm>
            <a:off x="8755011" y="3981122"/>
            <a:ext cx="1000794" cy="182860"/>
          </a:xfrm>
          <a:prstGeom prst="rect">
            <a:avLst/>
          </a:prstGeom>
          <a:noFill/>
          <a:ln/>
        </p:spPr>
        <p:txBody>
          <a:bodyPr wrap="none" lIns="0" tIns="0" rIns="0" bIns="0" rtlCol="0" anchor="t"/>
          <a:lstStyle/>
          <a:p>
            <a:pPr marL="0" indent="0" algn="l">
              <a:lnSpc>
                <a:spcPct val="100000"/>
              </a:lnSpc>
              <a:buNone/>
            </a:pPr>
            <a:r>
              <a:rPr lang="en-US" sz="1200" dirty="0">
                <a:solidFill>
                  <a:srgbClr val="1E2A44"/>
                </a:solidFill>
                <a:latin typeface="Urbanist SemiBold" pitchFamily="34" charset="0"/>
                <a:ea typeface="Urbanist SemiBold" pitchFamily="34" charset="-122"/>
                <a:cs typeface="Urbanist SemiBold" pitchFamily="34" charset="-120"/>
              </a:rPr>
              <a:t>Intern</a:t>
            </a:r>
            <a:endParaRPr lang="en-US" sz="1200" dirty="0"/>
          </a:p>
        </p:txBody>
      </p:sp>
      <p:sp>
        <p:nvSpPr>
          <p:cNvPr id="39" name="Text 34"/>
          <p:cNvSpPr/>
          <p:nvPr/>
        </p:nvSpPr>
        <p:spPr>
          <a:xfrm>
            <a:off x="8755011" y="4250781"/>
            <a:ext cx="1000794" cy="863997"/>
          </a:xfrm>
          <a:prstGeom prst="rect">
            <a:avLst/>
          </a:prstGeom>
          <a:noFill/>
          <a:ln/>
        </p:spPr>
        <p:txBody>
          <a:bodyPr wrap="square" lIns="0" tIns="0" rIns="0" bIns="0" rtlCol="0" anchor="t">
            <a:normAutofit/>
          </a:bodyPr>
          <a:lstStyle/>
          <a:p>
            <a:pPr marL="0" indent="0" algn="l">
              <a:lnSpc>
                <a:spcPct val="113000"/>
              </a:lnSpc>
              <a:buNone/>
            </a:pPr>
            <a:r>
              <a:rPr lang="en-US" sz="700" dirty="0">
                <a:solidFill>
                  <a:srgbClr val="1E2A44"/>
                </a:solidFill>
                <a:latin typeface="Figtree" pitchFamily="34" charset="0"/>
                <a:ea typeface="Figtree" pitchFamily="34" charset="-122"/>
                <a:cs typeface="Figtree" pitchFamily="34" charset="-120"/>
              </a:rPr>
              <a:t>Use a personal dashboard for task progress, attendance history, mentor information, evaluations, feedback and notifications.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4173"/>
            <a:ext cx="11582110" cy="153095"/>
          </a:xfrm>
          <a:prstGeom prst="rect">
            <a:avLst/>
          </a:prstGeom>
          <a:noFill/>
          <a:ln/>
        </p:spPr>
        <p:txBody>
          <a:bodyPr wrap="none" lIns="0" tIns="0" rIns="0" bIns="0" rtlCol="0" anchor="t"/>
          <a:lstStyle/>
          <a:p>
            <a:pPr marL="0" indent="0" algn="l">
              <a:lnSpc>
                <a:spcPct val="104000"/>
              </a:lnSpc>
              <a:buNone/>
            </a:pPr>
            <a:r>
              <a:rPr lang="en-US" sz="950" kern="100" spc="58" dirty="0">
                <a:solidFill>
                  <a:srgbClr val="1E2A44"/>
                </a:solidFill>
                <a:latin typeface="Red Hat Mono Medium" pitchFamily="34" charset="0"/>
                <a:ea typeface="Red Hat Mono Medium" pitchFamily="34" charset="-122"/>
                <a:cs typeface="Red Hat Mono Medium" pitchFamily="34" charset="-120"/>
              </a:rPr>
              <a:t>PRODUCT WALKTHROUGH</a:t>
            </a:r>
            <a:endParaRPr lang="en-US" sz="950" dirty="0"/>
          </a:p>
        </p:txBody>
      </p:sp>
      <p:sp>
        <p:nvSpPr>
          <p:cNvPr id="3" name="Text 1"/>
          <p:cNvSpPr/>
          <p:nvPr/>
        </p:nvSpPr>
        <p:spPr>
          <a:xfrm>
            <a:off x="609585" y="858102"/>
            <a:ext cx="10972526" cy="537964"/>
          </a:xfrm>
          <a:prstGeom prst="rect">
            <a:avLst/>
          </a:prstGeom>
          <a:noFill/>
          <a:ln/>
        </p:spPr>
        <p:txBody>
          <a:bodyPr wrap="none" lIns="0" tIns="0" rIns="0" bIns="0" rtlCol="0" anchor="t"/>
          <a:lstStyle/>
          <a:p>
            <a:pPr marL="0" indent="0" algn="l">
              <a:lnSpc>
                <a:spcPct val="88000"/>
              </a:lnSpc>
              <a:buNone/>
            </a:pPr>
            <a:r>
              <a:rPr lang="en-US" sz="4050" kern="100" spc="-81" dirty="0">
                <a:solidFill>
                  <a:srgbClr val="1E2A44"/>
                </a:solidFill>
                <a:latin typeface="Urbanist ExtraBold" pitchFamily="34" charset="0"/>
                <a:ea typeface="Urbanist ExtraBold" pitchFamily="34" charset="-122"/>
                <a:cs typeface="Urbanist ExtraBold" pitchFamily="34" charset="-120"/>
              </a:rPr>
              <a:t>Demo Flow &amp; Expected Outcome</a:t>
            </a:r>
            <a:endParaRPr lang="en-US" sz="4050" dirty="0"/>
          </a:p>
        </p:txBody>
      </p:sp>
      <p:sp>
        <p:nvSpPr>
          <p:cNvPr id="4" name="Shape 2"/>
          <p:cNvSpPr/>
          <p:nvPr/>
        </p:nvSpPr>
        <p:spPr>
          <a:xfrm>
            <a:off x="609585" y="1505645"/>
            <a:ext cx="1701757" cy="1694160"/>
          </a:xfrm>
          <a:prstGeom prst="roundRect">
            <a:avLst>
              <a:gd name="adj" fmla="val 12594"/>
            </a:avLst>
          </a:prstGeom>
          <a:solidFill>
            <a:srgbClr val="FFC83D"/>
          </a:solidFill>
          <a:ln/>
        </p:spPr>
        <p:txBody>
          <a:bodyPr/>
          <a:lstStyle/>
          <a:p>
            <a:endParaRPr lang="en-PK"/>
          </a:p>
        </p:txBody>
      </p:sp>
      <p:sp>
        <p:nvSpPr>
          <p:cNvPr id="5" name="Shape 3"/>
          <p:cNvSpPr/>
          <p:nvPr/>
        </p:nvSpPr>
        <p:spPr>
          <a:xfrm>
            <a:off x="711182"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6" name="Text 4"/>
          <p:cNvSpPr/>
          <p:nvPr/>
        </p:nvSpPr>
        <p:spPr>
          <a:xfrm>
            <a:off x="781725" y="1656953"/>
            <a:ext cx="760691"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01</a:t>
            </a:r>
            <a:endParaRPr lang="en-US" sz="1100" dirty="0"/>
          </a:p>
        </p:txBody>
      </p:sp>
      <p:pic>
        <p:nvPicPr>
          <p:cNvPr id="7" name="Image 0" descr="preencoded.png"/>
          <p:cNvPicPr>
            <a:picLocks noChangeAspect="1"/>
          </p:cNvPicPr>
          <p:nvPr/>
        </p:nvPicPr>
        <p:blipFill>
          <a:blip r:embed="rId3"/>
          <a:stretch>
            <a:fillRect/>
          </a:stretch>
        </p:blipFill>
        <p:spPr>
          <a:xfrm>
            <a:off x="711182" y="1932682"/>
            <a:ext cx="417601" cy="417612"/>
          </a:xfrm>
          <a:prstGeom prst="rect">
            <a:avLst/>
          </a:prstGeom>
        </p:spPr>
      </p:pic>
      <p:sp>
        <p:nvSpPr>
          <p:cNvPr id="8" name="Text 5"/>
          <p:cNvSpPr/>
          <p:nvPr/>
        </p:nvSpPr>
        <p:spPr>
          <a:xfrm>
            <a:off x="711182" y="2483629"/>
            <a:ext cx="1498563" cy="213816"/>
          </a:xfrm>
          <a:prstGeom prst="rect">
            <a:avLst/>
          </a:prstGeom>
          <a:noFill/>
          <a:ln/>
        </p:spPr>
        <p:txBody>
          <a:bodyPr wrap="none" lIns="0" tIns="0" rIns="0" bIns="0" rtlCol="0" anchor="t"/>
          <a:lstStyle/>
          <a:p>
            <a:pPr marL="0" indent="0" algn="l">
              <a:lnSpc>
                <a:spcPct val="100000"/>
              </a:lnSpc>
              <a:buNone/>
            </a:pPr>
            <a:r>
              <a:rPr lang="en-US" sz="1400" dirty="0">
                <a:solidFill>
                  <a:srgbClr val="000000"/>
                </a:solidFill>
                <a:latin typeface="Figtree SemiBold" pitchFamily="34" charset="0"/>
                <a:ea typeface="Figtree SemiBold" pitchFamily="34" charset="-122"/>
                <a:cs typeface="Figtree SemiBold" pitchFamily="34" charset="-120"/>
              </a:rPr>
              <a:t>Admin Login</a:t>
            </a:r>
            <a:endParaRPr lang="en-US" sz="1400" dirty="0"/>
          </a:p>
        </p:txBody>
      </p:sp>
      <p:sp>
        <p:nvSpPr>
          <p:cNvPr id="9" name="Shape 6"/>
          <p:cNvSpPr/>
          <p:nvPr/>
        </p:nvSpPr>
        <p:spPr>
          <a:xfrm>
            <a:off x="2463738" y="1505645"/>
            <a:ext cx="1701757" cy="1694160"/>
          </a:xfrm>
          <a:prstGeom prst="roundRect">
            <a:avLst>
              <a:gd name="adj" fmla="val 12594"/>
            </a:avLst>
          </a:prstGeom>
          <a:solidFill>
            <a:srgbClr val="3FC89A"/>
          </a:solidFill>
          <a:ln/>
        </p:spPr>
        <p:txBody>
          <a:bodyPr/>
          <a:lstStyle/>
          <a:p>
            <a:endParaRPr lang="en-PK"/>
          </a:p>
        </p:txBody>
      </p:sp>
      <p:sp>
        <p:nvSpPr>
          <p:cNvPr id="10" name="Shape 7"/>
          <p:cNvSpPr/>
          <p:nvPr/>
        </p:nvSpPr>
        <p:spPr>
          <a:xfrm>
            <a:off x="2565336"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11" name="Text 8"/>
          <p:cNvSpPr/>
          <p:nvPr/>
        </p:nvSpPr>
        <p:spPr>
          <a:xfrm>
            <a:off x="2625064" y="1656953"/>
            <a:ext cx="782320"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02</a:t>
            </a:r>
            <a:endParaRPr lang="en-US" sz="1100" dirty="0"/>
          </a:p>
        </p:txBody>
      </p:sp>
      <p:pic>
        <p:nvPicPr>
          <p:cNvPr id="12" name="Image 1" descr="preencoded.png"/>
          <p:cNvPicPr>
            <a:picLocks noChangeAspect="1"/>
          </p:cNvPicPr>
          <p:nvPr/>
        </p:nvPicPr>
        <p:blipFill>
          <a:blip r:embed="rId4"/>
          <a:stretch>
            <a:fillRect/>
          </a:stretch>
        </p:blipFill>
        <p:spPr>
          <a:xfrm>
            <a:off x="2565336" y="1932682"/>
            <a:ext cx="417601" cy="417612"/>
          </a:xfrm>
          <a:prstGeom prst="rect">
            <a:avLst/>
          </a:prstGeom>
        </p:spPr>
      </p:pic>
      <p:sp>
        <p:nvSpPr>
          <p:cNvPr id="13" name="Text 9"/>
          <p:cNvSpPr/>
          <p:nvPr/>
        </p:nvSpPr>
        <p:spPr>
          <a:xfrm>
            <a:off x="2565336" y="2483629"/>
            <a:ext cx="1498563"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000000"/>
                </a:solidFill>
                <a:latin typeface="Figtree SemiBold" pitchFamily="34" charset="0"/>
                <a:ea typeface="Figtree SemiBold" pitchFamily="34" charset="-122"/>
                <a:cs typeface="Figtree SemiBold" pitchFamily="34" charset="-120"/>
              </a:rPr>
              <a:t>Add Intern &amp; Assign Mentor</a:t>
            </a:r>
            <a:endParaRPr lang="en-US" sz="1400" dirty="0"/>
          </a:p>
        </p:txBody>
      </p:sp>
      <p:sp>
        <p:nvSpPr>
          <p:cNvPr id="14" name="Shape 10"/>
          <p:cNvSpPr/>
          <p:nvPr/>
        </p:nvSpPr>
        <p:spPr>
          <a:xfrm>
            <a:off x="4317892" y="1505645"/>
            <a:ext cx="1701757" cy="1694160"/>
          </a:xfrm>
          <a:prstGeom prst="roundRect">
            <a:avLst>
              <a:gd name="adj" fmla="val 12594"/>
            </a:avLst>
          </a:prstGeom>
          <a:solidFill>
            <a:srgbClr val="9B7BFF"/>
          </a:solidFill>
          <a:ln/>
        </p:spPr>
        <p:txBody>
          <a:bodyPr/>
          <a:lstStyle/>
          <a:p>
            <a:endParaRPr lang="en-PK"/>
          </a:p>
        </p:txBody>
      </p:sp>
      <p:sp>
        <p:nvSpPr>
          <p:cNvPr id="15" name="Shape 11"/>
          <p:cNvSpPr/>
          <p:nvPr/>
        </p:nvSpPr>
        <p:spPr>
          <a:xfrm>
            <a:off x="4419489"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16" name="Text 12"/>
          <p:cNvSpPr/>
          <p:nvPr/>
        </p:nvSpPr>
        <p:spPr>
          <a:xfrm>
            <a:off x="4480706" y="1656953"/>
            <a:ext cx="779443"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03</a:t>
            </a:r>
            <a:endParaRPr lang="en-US" sz="1100" dirty="0"/>
          </a:p>
        </p:txBody>
      </p:sp>
      <p:pic>
        <p:nvPicPr>
          <p:cNvPr id="17" name="Image 2" descr="preencoded.png"/>
          <p:cNvPicPr>
            <a:picLocks noChangeAspect="1"/>
          </p:cNvPicPr>
          <p:nvPr/>
        </p:nvPicPr>
        <p:blipFill>
          <a:blip r:embed="rId5"/>
          <a:stretch>
            <a:fillRect/>
          </a:stretch>
        </p:blipFill>
        <p:spPr>
          <a:xfrm>
            <a:off x="4419489" y="1932682"/>
            <a:ext cx="365414" cy="417612"/>
          </a:xfrm>
          <a:prstGeom prst="rect">
            <a:avLst/>
          </a:prstGeom>
        </p:spPr>
      </p:pic>
      <p:sp>
        <p:nvSpPr>
          <p:cNvPr id="18" name="Text 13"/>
          <p:cNvSpPr/>
          <p:nvPr/>
        </p:nvSpPr>
        <p:spPr>
          <a:xfrm>
            <a:off x="4419489" y="2483629"/>
            <a:ext cx="1498563" cy="213816"/>
          </a:xfrm>
          <a:prstGeom prst="rect">
            <a:avLst/>
          </a:prstGeom>
          <a:noFill/>
          <a:ln/>
        </p:spPr>
        <p:txBody>
          <a:bodyPr wrap="none" lIns="0" tIns="0" rIns="0" bIns="0" rtlCol="0" anchor="t"/>
          <a:lstStyle/>
          <a:p>
            <a:pPr marL="0" indent="0" algn="l">
              <a:lnSpc>
                <a:spcPct val="100000"/>
              </a:lnSpc>
              <a:buNone/>
            </a:pPr>
            <a:r>
              <a:rPr lang="en-US" sz="1400" dirty="0">
                <a:solidFill>
                  <a:srgbClr val="FFFFFF"/>
                </a:solidFill>
                <a:latin typeface="Figtree SemiBold" pitchFamily="34" charset="0"/>
                <a:ea typeface="Figtree SemiBold" pitchFamily="34" charset="-122"/>
                <a:cs typeface="Figtree SemiBold" pitchFamily="34" charset="-120"/>
              </a:rPr>
              <a:t>Create Task</a:t>
            </a:r>
            <a:endParaRPr lang="en-US" sz="1400" dirty="0"/>
          </a:p>
        </p:txBody>
      </p:sp>
      <p:sp>
        <p:nvSpPr>
          <p:cNvPr id="19" name="Shape 14"/>
          <p:cNvSpPr/>
          <p:nvPr/>
        </p:nvSpPr>
        <p:spPr>
          <a:xfrm>
            <a:off x="6172046" y="1505645"/>
            <a:ext cx="1701757" cy="1694160"/>
          </a:xfrm>
          <a:prstGeom prst="roundRect">
            <a:avLst>
              <a:gd name="adj" fmla="val 12594"/>
            </a:avLst>
          </a:prstGeom>
          <a:solidFill>
            <a:srgbClr val="FF8A3D"/>
          </a:solidFill>
          <a:ln/>
        </p:spPr>
        <p:txBody>
          <a:bodyPr/>
          <a:lstStyle/>
          <a:p>
            <a:endParaRPr lang="en-PK"/>
          </a:p>
        </p:txBody>
      </p:sp>
      <p:sp>
        <p:nvSpPr>
          <p:cNvPr id="20" name="Shape 15"/>
          <p:cNvSpPr/>
          <p:nvPr/>
        </p:nvSpPr>
        <p:spPr>
          <a:xfrm>
            <a:off x="6273643"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21" name="Text 16"/>
          <p:cNvSpPr/>
          <p:nvPr/>
        </p:nvSpPr>
        <p:spPr>
          <a:xfrm>
            <a:off x="6329403" y="1656953"/>
            <a:ext cx="790357"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04</a:t>
            </a:r>
            <a:endParaRPr lang="en-US" sz="1100" dirty="0"/>
          </a:p>
        </p:txBody>
      </p:sp>
      <p:pic>
        <p:nvPicPr>
          <p:cNvPr id="22" name="Image 3" descr="preencoded.png"/>
          <p:cNvPicPr>
            <a:picLocks noChangeAspect="1"/>
          </p:cNvPicPr>
          <p:nvPr/>
        </p:nvPicPr>
        <p:blipFill>
          <a:blip r:embed="rId6"/>
          <a:stretch>
            <a:fillRect/>
          </a:stretch>
        </p:blipFill>
        <p:spPr>
          <a:xfrm>
            <a:off x="6273643" y="1932682"/>
            <a:ext cx="417601" cy="417612"/>
          </a:xfrm>
          <a:prstGeom prst="rect">
            <a:avLst/>
          </a:prstGeom>
        </p:spPr>
      </p:pic>
      <p:sp>
        <p:nvSpPr>
          <p:cNvPr id="23" name="Text 17"/>
          <p:cNvSpPr/>
          <p:nvPr/>
        </p:nvSpPr>
        <p:spPr>
          <a:xfrm>
            <a:off x="6273643" y="2483629"/>
            <a:ext cx="1498563"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000000"/>
                </a:solidFill>
                <a:latin typeface="Figtree SemiBold" pitchFamily="34" charset="0"/>
                <a:ea typeface="Figtree SemiBold" pitchFamily="34" charset="-122"/>
                <a:cs typeface="Figtree SemiBold" pitchFamily="34" charset="-120"/>
              </a:rPr>
              <a:t>Intern Updates Progress</a:t>
            </a:r>
            <a:endParaRPr lang="en-US" sz="1400" dirty="0"/>
          </a:p>
        </p:txBody>
      </p:sp>
      <p:sp>
        <p:nvSpPr>
          <p:cNvPr id="24" name="Shape 18"/>
          <p:cNvSpPr/>
          <p:nvPr/>
        </p:nvSpPr>
        <p:spPr>
          <a:xfrm>
            <a:off x="8026199" y="1505645"/>
            <a:ext cx="1701757" cy="1694160"/>
          </a:xfrm>
          <a:prstGeom prst="roundRect">
            <a:avLst>
              <a:gd name="adj" fmla="val 12594"/>
            </a:avLst>
          </a:prstGeom>
          <a:solidFill>
            <a:srgbClr val="FFC83D"/>
          </a:solidFill>
          <a:ln/>
        </p:spPr>
        <p:txBody>
          <a:bodyPr/>
          <a:lstStyle/>
          <a:p>
            <a:endParaRPr lang="en-PK"/>
          </a:p>
        </p:txBody>
      </p:sp>
      <p:sp>
        <p:nvSpPr>
          <p:cNvPr id="25" name="Shape 19"/>
          <p:cNvSpPr/>
          <p:nvPr/>
        </p:nvSpPr>
        <p:spPr>
          <a:xfrm>
            <a:off x="8127797"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26" name="Text 20"/>
          <p:cNvSpPr/>
          <p:nvPr/>
        </p:nvSpPr>
        <p:spPr>
          <a:xfrm>
            <a:off x="8187029" y="1656953"/>
            <a:ext cx="783312"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05</a:t>
            </a:r>
            <a:endParaRPr lang="en-US" sz="1100" dirty="0"/>
          </a:p>
        </p:txBody>
      </p:sp>
      <p:pic>
        <p:nvPicPr>
          <p:cNvPr id="27" name="Image 4" descr="preencoded.png"/>
          <p:cNvPicPr>
            <a:picLocks noChangeAspect="1"/>
          </p:cNvPicPr>
          <p:nvPr/>
        </p:nvPicPr>
        <p:blipFill>
          <a:blip r:embed="rId7"/>
          <a:stretch>
            <a:fillRect/>
          </a:stretch>
        </p:blipFill>
        <p:spPr>
          <a:xfrm>
            <a:off x="8127797" y="1932682"/>
            <a:ext cx="417601" cy="417612"/>
          </a:xfrm>
          <a:prstGeom prst="rect">
            <a:avLst/>
          </a:prstGeom>
        </p:spPr>
      </p:pic>
      <p:sp>
        <p:nvSpPr>
          <p:cNvPr id="28" name="Text 21"/>
          <p:cNvSpPr/>
          <p:nvPr/>
        </p:nvSpPr>
        <p:spPr>
          <a:xfrm>
            <a:off x="8127797" y="2483629"/>
            <a:ext cx="1498563"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000000"/>
                </a:solidFill>
                <a:latin typeface="Figtree SemiBold" pitchFamily="34" charset="0"/>
                <a:ea typeface="Figtree SemiBold" pitchFamily="34" charset="-122"/>
                <a:cs typeface="Figtree SemiBold" pitchFamily="34" charset="-120"/>
              </a:rPr>
              <a:t>Mentor Evaluates Intern</a:t>
            </a:r>
            <a:endParaRPr lang="en-US" sz="1400" dirty="0"/>
          </a:p>
        </p:txBody>
      </p:sp>
      <p:sp>
        <p:nvSpPr>
          <p:cNvPr id="29" name="Shape 22"/>
          <p:cNvSpPr/>
          <p:nvPr/>
        </p:nvSpPr>
        <p:spPr>
          <a:xfrm>
            <a:off x="9880353" y="1505645"/>
            <a:ext cx="1701757" cy="1694160"/>
          </a:xfrm>
          <a:prstGeom prst="roundRect">
            <a:avLst>
              <a:gd name="adj" fmla="val 12594"/>
            </a:avLst>
          </a:prstGeom>
          <a:solidFill>
            <a:srgbClr val="3FC89A"/>
          </a:solidFill>
          <a:ln/>
        </p:spPr>
        <p:txBody>
          <a:bodyPr/>
          <a:lstStyle/>
          <a:p>
            <a:endParaRPr lang="en-PK"/>
          </a:p>
        </p:txBody>
      </p:sp>
      <p:sp>
        <p:nvSpPr>
          <p:cNvPr id="30" name="Shape 23"/>
          <p:cNvSpPr/>
          <p:nvPr/>
        </p:nvSpPr>
        <p:spPr>
          <a:xfrm>
            <a:off x="9981950" y="1581845"/>
            <a:ext cx="292291" cy="292298"/>
          </a:xfrm>
          <a:prstGeom prst="ellipse">
            <a:avLst/>
          </a:prstGeom>
          <a:solidFill>
            <a:srgbClr val="1E2A44"/>
          </a:solidFill>
          <a:ln w="6350">
            <a:solidFill>
              <a:srgbClr val="37435D"/>
            </a:solidFill>
            <a:prstDash val="solid"/>
          </a:ln>
        </p:spPr>
        <p:txBody>
          <a:bodyPr/>
          <a:lstStyle/>
          <a:p>
            <a:endParaRPr lang="en-PK"/>
          </a:p>
        </p:txBody>
      </p:sp>
      <p:sp>
        <p:nvSpPr>
          <p:cNvPr id="31" name="Text 24"/>
          <p:cNvSpPr/>
          <p:nvPr/>
        </p:nvSpPr>
        <p:spPr>
          <a:xfrm>
            <a:off x="10041480" y="1656953"/>
            <a:ext cx="782717" cy="141982"/>
          </a:xfrm>
          <a:prstGeom prst="rect">
            <a:avLst/>
          </a:prstGeom>
          <a:noFill/>
          <a:ln/>
        </p:spPr>
        <p:txBody>
          <a:bodyPr wrap="none" lIns="0" tIns="0" rIns="0" bIns="0" rtlCol="0" anchor="t"/>
          <a:lstStyle/>
          <a:p>
            <a:pPr marL="0" indent="0" algn="l">
              <a:lnSpc>
                <a:spcPct val="83000"/>
              </a:lnSpc>
              <a:buNone/>
            </a:pPr>
            <a:r>
              <a:rPr lang="en-US" sz="1100" dirty="0">
                <a:solidFill>
                  <a:srgbClr val="FFFFFF"/>
                </a:solidFill>
                <a:latin typeface="Figtree SemiBold" pitchFamily="34" charset="0"/>
                <a:ea typeface="Figtree SemiBold" pitchFamily="34" charset="-122"/>
                <a:cs typeface="Figtree SemiBold" pitchFamily="34" charset="-120"/>
              </a:rPr>
              <a:t>06</a:t>
            </a:r>
            <a:endParaRPr lang="en-US" sz="1100" dirty="0"/>
          </a:p>
        </p:txBody>
      </p:sp>
      <p:pic>
        <p:nvPicPr>
          <p:cNvPr id="32" name="Image 5" descr="preencoded.png"/>
          <p:cNvPicPr>
            <a:picLocks noChangeAspect="1"/>
          </p:cNvPicPr>
          <p:nvPr/>
        </p:nvPicPr>
        <p:blipFill>
          <a:blip r:embed="rId8"/>
          <a:stretch>
            <a:fillRect/>
          </a:stretch>
        </p:blipFill>
        <p:spPr>
          <a:xfrm>
            <a:off x="9981950" y="1932682"/>
            <a:ext cx="417601" cy="417612"/>
          </a:xfrm>
          <a:prstGeom prst="rect">
            <a:avLst/>
          </a:prstGeom>
        </p:spPr>
      </p:pic>
      <p:sp>
        <p:nvSpPr>
          <p:cNvPr id="33" name="Text 25"/>
          <p:cNvSpPr/>
          <p:nvPr/>
        </p:nvSpPr>
        <p:spPr>
          <a:xfrm>
            <a:off x="9981950" y="2483629"/>
            <a:ext cx="1498563" cy="641449"/>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000000"/>
                </a:solidFill>
                <a:latin typeface="Figtree SemiBold" pitchFamily="34" charset="0"/>
                <a:ea typeface="Figtree SemiBold" pitchFamily="34" charset="-122"/>
                <a:cs typeface="Figtree SemiBold" pitchFamily="34" charset="-120"/>
              </a:rPr>
              <a:t>Dashboard Shows Updated Analytics</a:t>
            </a:r>
            <a:endParaRPr lang="en-US" sz="1400" dirty="0"/>
          </a:p>
        </p:txBody>
      </p:sp>
      <p:sp>
        <p:nvSpPr>
          <p:cNvPr id="34" name="Text 26"/>
          <p:cNvSpPr/>
          <p:nvPr/>
        </p:nvSpPr>
        <p:spPr>
          <a:xfrm>
            <a:off x="609585" y="3465604"/>
            <a:ext cx="7416614" cy="153095"/>
          </a:xfrm>
          <a:prstGeom prst="rect">
            <a:avLst/>
          </a:prstGeom>
          <a:noFill/>
          <a:ln/>
        </p:spPr>
        <p:txBody>
          <a:bodyPr wrap="none" lIns="0" tIns="0" rIns="0" bIns="0" rtlCol="0" anchor="t"/>
          <a:lstStyle/>
          <a:p>
            <a:pPr marL="0" indent="0" algn="l">
              <a:lnSpc>
                <a:spcPct val="104000"/>
              </a:lnSpc>
              <a:buNone/>
            </a:pPr>
            <a:r>
              <a:rPr lang="en-US" sz="950" kern="100" spc="58" dirty="0">
                <a:solidFill>
                  <a:srgbClr val="1E2A44"/>
                </a:solidFill>
                <a:latin typeface="Red Hat Mono Medium" pitchFamily="34" charset="0"/>
                <a:ea typeface="Red Hat Mono Medium" pitchFamily="34" charset="-122"/>
                <a:cs typeface="Red Hat Mono Medium" pitchFamily="34" charset="-120"/>
              </a:rPr>
              <a:t>EXPECTED OUTCOME</a:t>
            </a:r>
            <a:endParaRPr lang="en-US" sz="950" dirty="0"/>
          </a:p>
        </p:txBody>
      </p:sp>
      <p:pic>
        <p:nvPicPr>
          <p:cNvPr id="35" name="Image 6" descr="preencoded.png"/>
          <p:cNvPicPr>
            <a:picLocks noChangeAspect="1"/>
          </p:cNvPicPr>
          <p:nvPr/>
        </p:nvPicPr>
        <p:blipFill>
          <a:blip r:embed="rId9"/>
          <a:stretch>
            <a:fillRect/>
          </a:stretch>
        </p:blipFill>
        <p:spPr>
          <a:xfrm>
            <a:off x="736582" y="4488656"/>
            <a:ext cx="417601" cy="417612"/>
          </a:xfrm>
          <a:prstGeom prst="rect">
            <a:avLst/>
          </a:prstGeom>
        </p:spPr>
      </p:pic>
      <p:sp>
        <p:nvSpPr>
          <p:cNvPr id="36" name="Text 27"/>
          <p:cNvSpPr/>
          <p:nvPr/>
        </p:nvSpPr>
        <p:spPr>
          <a:xfrm>
            <a:off x="736582" y="5039603"/>
            <a:ext cx="1938785"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Centralized internship management</a:t>
            </a:r>
            <a:endParaRPr lang="en-US" sz="1400" dirty="0"/>
          </a:p>
        </p:txBody>
      </p:sp>
      <p:pic>
        <p:nvPicPr>
          <p:cNvPr id="37" name="Image 7" descr="preencoded.png"/>
          <p:cNvPicPr>
            <a:picLocks noChangeAspect="1"/>
          </p:cNvPicPr>
          <p:nvPr/>
        </p:nvPicPr>
        <p:blipFill>
          <a:blip r:embed="rId10"/>
          <a:stretch>
            <a:fillRect/>
          </a:stretch>
        </p:blipFill>
        <p:spPr>
          <a:xfrm>
            <a:off x="3081756" y="4488656"/>
            <a:ext cx="417601" cy="417612"/>
          </a:xfrm>
          <a:prstGeom prst="rect">
            <a:avLst/>
          </a:prstGeom>
        </p:spPr>
      </p:pic>
      <p:sp>
        <p:nvSpPr>
          <p:cNvPr id="38" name="Text 28"/>
          <p:cNvSpPr/>
          <p:nvPr/>
        </p:nvSpPr>
        <p:spPr>
          <a:xfrm>
            <a:off x="3081756" y="5039603"/>
            <a:ext cx="1862587"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Real-time database-backed information</a:t>
            </a:r>
            <a:endParaRPr lang="en-US" sz="1400" dirty="0"/>
          </a:p>
        </p:txBody>
      </p:sp>
      <p:pic>
        <p:nvPicPr>
          <p:cNvPr id="39" name="Image 8" descr="preencoded.png"/>
          <p:cNvPicPr>
            <a:picLocks noChangeAspect="1"/>
          </p:cNvPicPr>
          <p:nvPr/>
        </p:nvPicPr>
        <p:blipFill>
          <a:blip r:embed="rId11"/>
          <a:stretch>
            <a:fillRect/>
          </a:stretch>
        </p:blipFill>
        <p:spPr>
          <a:xfrm>
            <a:off x="5350733" y="4488656"/>
            <a:ext cx="417601" cy="417612"/>
          </a:xfrm>
          <a:prstGeom prst="rect">
            <a:avLst/>
          </a:prstGeom>
        </p:spPr>
      </p:pic>
      <p:sp>
        <p:nvSpPr>
          <p:cNvPr id="40" name="Text 29"/>
          <p:cNvSpPr/>
          <p:nvPr/>
        </p:nvSpPr>
        <p:spPr>
          <a:xfrm>
            <a:off x="5350733" y="5039603"/>
            <a:ext cx="1938785"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Clear visibility of intern progress</a:t>
            </a:r>
            <a:endParaRPr lang="en-US" sz="1400" dirty="0"/>
          </a:p>
        </p:txBody>
      </p:sp>
      <p:pic>
        <p:nvPicPr>
          <p:cNvPr id="41" name="Image 9" descr="preencoded.png"/>
          <p:cNvPicPr>
            <a:picLocks noChangeAspect="1"/>
          </p:cNvPicPr>
          <p:nvPr/>
        </p:nvPicPr>
        <p:blipFill>
          <a:blip r:embed="rId12"/>
          <a:stretch>
            <a:fillRect/>
          </a:stretch>
        </p:blipFill>
        <p:spPr>
          <a:xfrm>
            <a:off x="736582" y="5795963"/>
            <a:ext cx="417601" cy="417612"/>
          </a:xfrm>
          <a:prstGeom prst="rect">
            <a:avLst/>
          </a:prstGeom>
        </p:spPr>
      </p:pic>
      <p:sp>
        <p:nvSpPr>
          <p:cNvPr id="42" name="Text 30"/>
          <p:cNvSpPr/>
          <p:nvPr/>
        </p:nvSpPr>
        <p:spPr>
          <a:xfrm>
            <a:off x="736582" y="6346909"/>
            <a:ext cx="1938785"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Structured mentor feedback</a:t>
            </a:r>
            <a:endParaRPr lang="en-US" sz="1400" dirty="0"/>
          </a:p>
        </p:txBody>
      </p:sp>
      <p:pic>
        <p:nvPicPr>
          <p:cNvPr id="43" name="Image 10" descr="preencoded.png"/>
          <p:cNvPicPr>
            <a:picLocks noChangeAspect="1"/>
          </p:cNvPicPr>
          <p:nvPr/>
        </p:nvPicPr>
        <p:blipFill>
          <a:blip r:embed="rId13"/>
          <a:stretch>
            <a:fillRect/>
          </a:stretch>
        </p:blipFill>
        <p:spPr>
          <a:xfrm>
            <a:off x="3081756" y="5795963"/>
            <a:ext cx="417601" cy="417612"/>
          </a:xfrm>
          <a:prstGeom prst="rect">
            <a:avLst/>
          </a:prstGeom>
        </p:spPr>
      </p:pic>
      <p:sp>
        <p:nvSpPr>
          <p:cNvPr id="44" name="Text 31"/>
          <p:cNvSpPr/>
          <p:nvPr/>
        </p:nvSpPr>
        <p:spPr>
          <a:xfrm>
            <a:off x="3081756" y="6346909"/>
            <a:ext cx="1862587"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Data-driven performance insights</a:t>
            </a:r>
            <a:endParaRPr lang="en-US" sz="1400" dirty="0"/>
          </a:p>
        </p:txBody>
      </p:sp>
      <p:pic>
        <p:nvPicPr>
          <p:cNvPr id="45" name="Image 11" descr="preencoded.png"/>
          <p:cNvPicPr>
            <a:picLocks noChangeAspect="1"/>
          </p:cNvPicPr>
          <p:nvPr/>
        </p:nvPicPr>
        <p:blipFill>
          <a:blip r:embed="rId14"/>
          <a:stretch>
            <a:fillRect/>
          </a:stretch>
        </p:blipFill>
        <p:spPr>
          <a:xfrm>
            <a:off x="5350733" y="5795963"/>
            <a:ext cx="417601" cy="417612"/>
          </a:xfrm>
          <a:prstGeom prst="rect">
            <a:avLst/>
          </a:prstGeom>
        </p:spPr>
      </p:pic>
      <p:sp>
        <p:nvSpPr>
          <p:cNvPr id="46" name="Text 32"/>
          <p:cNvSpPr/>
          <p:nvPr/>
        </p:nvSpPr>
        <p:spPr>
          <a:xfrm>
            <a:off x="5350733" y="6346909"/>
            <a:ext cx="1938785" cy="427633"/>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1E2A44"/>
                </a:solidFill>
                <a:latin typeface="Figtree SemiBold" pitchFamily="34" charset="0"/>
                <a:ea typeface="Figtree SemiBold" pitchFamily="34" charset="-122"/>
                <a:cs typeface="Figtree SemiBold" pitchFamily="34" charset="-120"/>
              </a:rPr>
              <a:t>Reduced manual tracking</a:t>
            </a:r>
            <a:endParaRPr lang="en-US" sz="1400" dirty="0"/>
          </a:p>
        </p:txBody>
      </p:sp>
      <p:sp>
        <p:nvSpPr>
          <p:cNvPr id="47" name="Text 33"/>
          <p:cNvSpPr/>
          <p:nvPr/>
        </p:nvSpPr>
        <p:spPr>
          <a:xfrm>
            <a:off x="8356391" y="3687573"/>
            <a:ext cx="3835304" cy="153095"/>
          </a:xfrm>
          <a:prstGeom prst="rect">
            <a:avLst/>
          </a:prstGeom>
          <a:noFill/>
          <a:ln/>
        </p:spPr>
        <p:txBody>
          <a:bodyPr wrap="none" lIns="0" tIns="0" rIns="0" bIns="0" rtlCol="0" anchor="t"/>
          <a:lstStyle/>
          <a:p>
            <a:pPr marL="0" indent="0" algn="l">
              <a:lnSpc>
                <a:spcPct val="104000"/>
              </a:lnSpc>
              <a:buNone/>
            </a:pPr>
            <a:r>
              <a:rPr lang="en-US" sz="950" kern="100" spc="58" dirty="0">
                <a:solidFill>
                  <a:srgbClr val="1E2A44"/>
                </a:solidFill>
                <a:latin typeface="Red Hat Mono Medium" pitchFamily="34" charset="0"/>
                <a:ea typeface="Red Hat Mono Medium" pitchFamily="34" charset="-122"/>
                <a:cs typeface="Red Hat Mono Medium" pitchFamily="34" charset="-120"/>
              </a:rPr>
              <a:t>THE OUTCOME</a:t>
            </a:r>
            <a:endParaRPr lang="en-US" sz="950" dirty="0"/>
          </a:p>
        </p:txBody>
      </p:sp>
      <p:sp>
        <p:nvSpPr>
          <p:cNvPr id="48" name="Text 34"/>
          <p:cNvSpPr/>
          <p:nvPr/>
        </p:nvSpPr>
        <p:spPr>
          <a:xfrm>
            <a:off x="8356391" y="3974986"/>
            <a:ext cx="3657509" cy="1097359"/>
          </a:xfrm>
          <a:prstGeom prst="rect">
            <a:avLst/>
          </a:prstGeom>
          <a:noFill/>
          <a:ln/>
        </p:spPr>
        <p:txBody>
          <a:bodyPr wrap="square" lIns="0" tIns="0" rIns="0" bIns="0" rtlCol="0" anchor="t">
            <a:normAutofit/>
          </a:bodyPr>
          <a:lstStyle/>
          <a:p>
            <a:pPr marL="0" indent="0" algn="l">
              <a:lnSpc>
                <a:spcPct val="109000"/>
              </a:lnSpc>
              <a:buNone/>
            </a:pPr>
            <a:r>
              <a:rPr lang="en-US" sz="1300" dirty="0">
                <a:solidFill>
                  <a:srgbClr val="1E2A44"/>
                </a:solidFill>
                <a:latin typeface="Figtree" pitchFamily="34" charset="0"/>
                <a:ea typeface="Figtree" pitchFamily="34" charset="-122"/>
                <a:cs typeface="Figtree" pitchFamily="34" charset="-120"/>
              </a:rPr>
              <a:t>“The goal is to build a practical full-stack system that demonstrates real-world development skills through authentication, role-based access, REST APIs, SQL database integration, CRUD operations, and analytics.”</a:t>
            </a:r>
            <a:endParaRPr lang="en-US" sz="1300" dirty="0"/>
          </a:p>
        </p:txBody>
      </p:sp>
      <p:sp>
        <p:nvSpPr>
          <p:cNvPr id="49" name="Shape 35"/>
          <p:cNvSpPr/>
          <p:nvPr/>
        </p:nvSpPr>
        <p:spPr>
          <a:xfrm>
            <a:off x="8356391" y="5197177"/>
            <a:ext cx="3550057" cy="267196"/>
          </a:xfrm>
          <a:prstGeom prst="roundRect">
            <a:avLst>
              <a:gd name="adj" fmla="val 45021"/>
            </a:avLst>
          </a:prstGeom>
          <a:solidFill>
            <a:srgbClr val="DCE2EF"/>
          </a:solidFill>
          <a:ln/>
        </p:spPr>
        <p:txBody>
          <a:bodyPr/>
          <a:lstStyle/>
          <a:p>
            <a:endParaRPr lang="en-PK"/>
          </a:p>
        </p:txBody>
      </p:sp>
      <p:sp>
        <p:nvSpPr>
          <p:cNvPr id="50" name="Text 36"/>
          <p:cNvSpPr/>
          <p:nvPr/>
        </p:nvSpPr>
        <p:spPr>
          <a:xfrm>
            <a:off x="8456599" y="5253138"/>
            <a:ext cx="3735096" cy="166985"/>
          </a:xfrm>
          <a:prstGeom prst="rect">
            <a:avLst/>
          </a:prstGeom>
          <a:noFill/>
          <a:ln/>
        </p:spPr>
        <p:txBody>
          <a:bodyPr wrap="none" lIns="0" tIns="0" rIns="0" bIns="0" rtlCol="0" anchor="t"/>
          <a:lstStyle/>
          <a:p>
            <a:pPr marL="0" indent="0" algn="l">
              <a:lnSpc>
                <a:spcPct val="104000"/>
              </a:lnSpc>
              <a:buNone/>
            </a:pPr>
            <a:r>
              <a:rPr lang="en-US" sz="1050" kern="100" spc="63" dirty="0">
                <a:solidFill>
                  <a:srgbClr val="1E2A44"/>
                </a:solidFill>
                <a:latin typeface="Red Hat Mono Medium" pitchFamily="34" charset="0"/>
                <a:ea typeface="Red Hat Mono Medium" pitchFamily="34" charset="-122"/>
                <a:cs typeface="Red Hat Mono Medium" pitchFamily="34" charset="-120"/>
              </a:rPr>
              <a:t>REACT + NODE.JS + EXPRESS + SQL SERVER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452</Words>
  <Application>Microsoft Office PowerPoint</Application>
  <PresentationFormat>Widescreen</PresentationFormat>
  <Paragraphs>78</Paragraphs>
  <Slides>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Urbanist ExtraBold</vt:lpstr>
      <vt:lpstr>Urbanist SemiBold</vt:lpstr>
      <vt:lpstr>Arial</vt:lpstr>
      <vt:lpstr>Red Hat Mono Medium</vt:lpstr>
      <vt:lpstr>Figtree</vt:lpstr>
      <vt:lpstr>Figtree Bold</vt:lpstr>
      <vt:lpstr>Figtree SemiBold</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faiza altaf</dc:creator>
  <cp:lastModifiedBy>faiza altaf</cp:lastModifiedBy>
  <cp:revision>4</cp:revision>
  <dcterms:created xsi:type="dcterms:W3CDTF">2026-10-08T14:04:45Z</dcterms:created>
  <dcterms:modified xsi:type="dcterms:W3CDTF">2026-10-08T14:12:13Z</dcterms:modified>
</cp:coreProperties>
</file>